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88" r:id="rId1"/>
  </p:sldMasterIdLst>
  <p:notesMasterIdLst>
    <p:notesMasterId r:id="rId42"/>
  </p:notesMasterIdLst>
  <p:handoutMasterIdLst>
    <p:handoutMasterId r:id="rId43"/>
  </p:handoutMasterIdLst>
  <p:sldIdLst>
    <p:sldId id="314" r:id="rId2"/>
    <p:sldId id="319" r:id="rId3"/>
    <p:sldId id="320" r:id="rId4"/>
    <p:sldId id="367" r:id="rId5"/>
    <p:sldId id="321" r:id="rId6"/>
    <p:sldId id="322" r:id="rId7"/>
    <p:sldId id="323" r:id="rId8"/>
    <p:sldId id="324" r:id="rId9"/>
    <p:sldId id="326" r:id="rId10"/>
    <p:sldId id="327" r:id="rId11"/>
    <p:sldId id="329" r:id="rId12"/>
    <p:sldId id="330" r:id="rId13"/>
    <p:sldId id="331" r:id="rId14"/>
    <p:sldId id="332" r:id="rId15"/>
    <p:sldId id="363" r:id="rId16"/>
    <p:sldId id="334" r:id="rId17"/>
    <p:sldId id="373" r:id="rId18"/>
    <p:sldId id="336" r:id="rId19"/>
    <p:sldId id="337" r:id="rId20"/>
    <p:sldId id="338" r:id="rId21"/>
    <p:sldId id="374" r:id="rId22"/>
    <p:sldId id="339" r:id="rId23"/>
    <p:sldId id="340" r:id="rId24"/>
    <p:sldId id="341" r:id="rId25"/>
    <p:sldId id="342" r:id="rId26"/>
    <p:sldId id="343" r:id="rId27"/>
    <p:sldId id="344" r:id="rId28"/>
    <p:sldId id="345" r:id="rId29"/>
    <p:sldId id="347" r:id="rId30"/>
    <p:sldId id="348" r:id="rId31"/>
    <p:sldId id="364" r:id="rId32"/>
    <p:sldId id="349" r:id="rId33"/>
    <p:sldId id="366" r:id="rId34"/>
    <p:sldId id="351" r:id="rId35"/>
    <p:sldId id="372" r:id="rId36"/>
    <p:sldId id="352" r:id="rId37"/>
    <p:sldId id="354" r:id="rId38"/>
    <p:sldId id="375" r:id="rId39"/>
    <p:sldId id="355" r:id="rId40"/>
    <p:sldId id="356" r:id="rId41"/>
  </p:sldIdLst>
  <p:sldSz cx="9144000" cy="6858000" type="screen4x3"/>
  <p:notesSz cx="6858000" cy="9296400"/>
  <p:defaultTextStyle>
    <a:defPPr>
      <a:defRPr lang="en-US"/>
    </a:defPPr>
    <a:lvl1pPr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C9FF"/>
    <a:srgbClr val="DEBDFF"/>
    <a:srgbClr val="C2C2C2"/>
    <a:srgbClr val="DBB7FF"/>
    <a:srgbClr val="CC99FF"/>
    <a:srgbClr val="666699"/>
    <a:srgbClr val="FFFF99"/>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B471A4-9DE5-E14C-A030-6E387EE02F30}" v="7" dt="2023-03-23T01:25:05.8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5" autoAdjust="0"/>
    <p:restoredTop sz="94582" autoAdjust="0"/>
  </p:normalViewPr>
  <p:slideViewPr>
    <p:cSldViewPr>
      <p:cViewPr varScale="1">
        <p:scale>
          <a:sx n="61" d="100"/>
          <a:sy n="61" d="100"/>
        </p:scale>
        <p:origin x="216" y="14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1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Sreedhar Ram" userId="b688cbea-cdc8-41f2-88ad-6b3e3fc22e99" providerId="ADAL" clId="{BFB471A4-9DE5-E14C-A030-6E387EE02F30}"/>
    <pc:docChg chg="undo custSel addSld delSld modSld sldOrd">
      <pc:chgData name="Kiran Sreedhar Ram" userId="b688cbea-cdc8-41f2-88ad-6b3e3fc22e99" providerId="ADAL" clId="{BFB471A4-9DE5-E14C-A030-6E387EE02F30}" dt="2023-03-24T00:18:53.305" v="54" actId="20577"/>
      <pc:docMkLst>
        <pc:docMk/>
      </pc:docMkLst>
      <pc:sldChg chg="modSp mod">
        <pc:chgData name="Kiran Sreedhar Ram" userId="b688cbea-cdc8-41f2-88ad-6b3e3fc22e99" providerId="ADAL" clId="{BFB471A4-9DE5-E14C-A030-6E387EE02F30}" dt="2023-03-23T01:14:56.626" v="0" actId="20577"/>
        <pc:sldMkLst>
          <pc:docMk/>
          <pc:sldMk cId="0" sldId="314"/>
        </pc:sldMkLst>
        <pc:spChg chg="mod">
          <ac:chgData name="Kiran Sreedhar Ram" userId="b688cbea-cdc8-41f2-88ad-6b3e3fc22e99" providerId="ADAL" clId="{BFB471A4-9DE5-E14C-A030-6E387EE02F30}" dt="2023-03-23T01:14:56.626" v="0" actId="20577"/>
          <ac:spMkLst>
            <pc:docMk/>
            <pc:sldMk cId="0" sldId="314"/>
            <ac:spMk id="2050" creationId="{00000000-0000-0000-0000-000000000000}"/>
          </ac:spMkLst>
        </pc:spChg>
      </pc:sldChg>
      <pc:sldChg chg="del">
        <pc:chgData name="Kiran Sreedhar Ram" userId="b688cbea-cdc8-41f2-88ad-6b3e3fc22e99" providerId="ADAL" clId="{BFB471A4-9DE5-E14C-A030-6E387EE02F30}" dt="2023-03-23T01:15:48.686" v="8" actId="2696"/>
        <pc:sldMkLst>
          <pc:docMk/>
          <pc:sldMk cId="3003684452" sldId="317"/>
        </pc:sldMkLst>
      </pc:sldChg>
      <pc:sldChg chg="modSp mod ord">
        <pc:chgData name="Kiran Sreedhar Ram" userId="b688cbea-cdc8-41f2-88ad-6b3e3fc22e99" providerId="ADAL" clId="{BFB471A4-9DE5-E14C-A030-6E387EE02F30}" dt="2023-03-24T00:13:55.751" v="48" actId="20577"/>
        <pc:sldMkLst>
          <pc:docMk/>
          <pc:sldMk cId="2581989689" sldId="321"/>
        </pc:sldMkLst>
        <pc:spChg chg="mod">
          <ac:chgData name="Kiran Sreedhar Ram" userId="b688cbea-cdc8-41f2-88ad-6b3e3fc22e99" providerId="ADAL" clId="{BFB471A4-9DE5-E14C-A030-6E387EE02F30}" dt="2023-03-24T00:13:55.751" v="48" actId="20577"/>
          <ac:spMkLst>
            <pc:docMk/>
            <pc:sldMk cId="2581989689" sldId="321"/>
            <ac:spMk id="16387" creationId="{00000000-0000-0000-0000-000000000000}"/>
          </ac:spMkLst>
        </pc:spChg>
      </pc:sldChg>
      <pc:sldChg chg="add">
        <pc:chgData name="Kiran Sreedhar Ram" userId="b688cbea-cdc8-41f2-88ad-6b3e3fc22e99" providerId="ADAL" clId="{BFB471A4-9DE5-E14C-A030-6E387EE02F30}" dt="2023-03-23T01:17:57.338" v="15"/>
        <pc:sldMkLst>
          <pc:docMk/>
          <pc:sldMk cId="328468355" sldId="326"/>
        </pc:sldMkLst>
      </pc:sldChg>
      <pc:sldChg chg="add">
        <pc:chgData name="Kiran Sreedhar Ram" userId="b688cbea-cdc8-41f2-88ad-6b3e3fc22e99" providerId="ADAL" clId="{BFB471A4-9DE5-E14C-A030-6E387EE02F30}" dt="2023-03-23T01:18:09.169" v="18"/>
        <pc:sldMkLst>
          <pc:docMk/>
          <pc:sldMk cId="3448529911" sldId="327"/>
        </pc:sldMkLst>
      </pc:sldChg>
      <pc:sldChg chg="add del">
        <pc:chgData name="Kiran Sreedhar Ram" userId="b688cbea-cdc8-41f2-88ad-6b3e3fc22e99" providerId="ADAL" clId="{BFB471A4-9DE5-E14C-A030-6E387EE02F30}" dt="2023-03-23T01:17:09.807" v="14" actId="2696"/>
        <pc:sldMkLst>
          <pc:docMk/>
          <pc:sldMk cId="2020880033" sldId="328"/>
        </pc:sldMkLst>
      </pc:sldChg>
      <pc:sldChg chg="add del">
        <pc:chgData name="Kiran Sreedhar Ram" userId="b688cbea-cdc8-41f2-88ad-6b3e3fc22e99" providerId="ADAL" clId="{BFB471A4-9DE5-E14C-A030-6E387EE02F30}" dt="2023-03-23T01:16:57.289" v="12" actId="2696"/>
        <pc:sldMkLst>
          <pc:docMk/>
          <pc:sldMk cId="2215094032" sldId="329"/>
        </pc:sldMkLst>
      </pc:sldChg>
      <pc:sldChg chg="modSp mod">
        <pc:chgData name="Kiran Sreedhar Ram" userId="b688cbea-cdc8-41f2-88ad-6b3e3fc22e99" providerId="ADAL" clId="{BFB471A4-9DE5-E14C-A030-6E387EE02F30}" dt="2023-03-24T00:16:02.581" v="51"/>
        <pc:sldMkLst>
          <pc:docMk/>
          <pc:sldMk cId="2455199577" sldId="331"/>
        </pc:sldMkLst>
        <pc:spChg chg="mod">
          <ac:chgData name="Kiran Sreedhar Ram" userId="b688cbea-cdc8-41f2-88ad-6b3e3fc22e99" providerId="ADAL" clId="{BFB471A4-9DE5-E14C-A030-6E387EE02F30}" dt="2023-03-23T01:17:57.428" v="16" actId="27636"/>
          <ac:spMkLst>
            <pc:docMk/>
            <pc:sldMk cId="2455199577" sldId="331"/>
            <ac:spMk id="16388" creationId="{00000000-0000-0000-0000-000000000000}"/>
          </ac:spMkLst>
        </pc:spChg>
        <pc:spChg chg="mod">
          <ac:chgData name="Kiran Sreedhar Ram" userId="b688cbea-cdc8-41f2-88ad-6b3e3fc22e99" providerId="ADAL" clId="{BFB471A4-9DE5-E14C-A030-6E387EE02F30}" dt="2023-03-24T00:16:02.581" v="51"/>
          <ac:spMkLst>
            <pc:docMk/>
            <pc:sldMk cId="2455199577" sldId="331"/>
            <ac:spMk id="27651" creationId="{00000000-0000-0000-0000-000000000000}"/>
          </ac:spMkLst>
        </pc:spChg>
      </pc:sldChg>
      <pc:sldChg chg="del">
        <pc:chgData name="Kiran Sreedhar Ram" userId="b688cbea-cdc8-41f2-88ad-6b3e3fc22e99" providerId="ADAL" clId="{BFB471A4-9DE5-E14C-A030-6E387EE02F30}" dt="2023-03-23T01:20:10.574" v="20" actId="2696"/>
        <pc:sldMkLst>
          <pc:docMk/>
          <pc:sldMk cId="722963762" sldId="335"/>
        </pc:sldMkLst>
      </pc:sldChg>
      <pc:sldChg chg="del">
        <pc:chgData name="Kiran Sreedhar Ram" userId="b688cbea-cdc8-41f2-88ad-6b3e3fc22e99" providerId="ADAL" clId="{BFB471A4-9DE5-E14C-A030-6E387EE02F30}" dt="2023-03-23T01:22:05.038" v="23" actId="2696"/>
        <pc:sldMkLst>
          <pc:docMk/>
          <pc:sldMk cId="2425291282" sldId="346"/>
        </pc:sldMkLst>
      </pc:sldChg>
      <pc:sldChg chg="modSp mod">
        <pc:chgData name="Kiran Sreedhar Ram" userId="b688cbea-cdc8-41f2-88ad-6b3e3fc22e99" providerId="ADAL" clId="{BFB471A4-9DE5-E14C-A030-6E387EE02F30}" dt="2023-03-24T00:18:53.305" v="54" actId="20577"/>
        <pc:sldMkLst>
          <pc:docMk/>
          <pc:sldMk cId="1948852280" sldId="348"/>
        </pc:sldMkLst>
        <pc:spChg chg="mod">
          <ac:chgData name="Kiran Sreedhar Ram" userId="b688cbea-cdc8-41f2-88ad-6b3e3fc22e99" providerId="ADAL" clId="{BFB471A4-9DE5-E14C-A030-6E387EE02F30}" dt="2023-03-24T00:18:53.305" v="54" actId="20577"/>
          <ac:spMkLst>
            <pc:docMk/>
            <pc:sldMk cId="1948852280" sldId="348"/>
            <ac:spMk id="44035" creationId="{00000000-0000-0000-0000-000000000000}"/>
          </ac:spMkLst>
        </pc:spChg>
      </pc:sldChg>
      <pc:sldChg chg="modSp mod">
        <pc:chgData name="Kiran Sreedhar Ram" userId="b688cbea-cdc8-41f2-88ad-6b3e3fc22e99" providerId="ADAL" clId="{BFB471A4-9DE5-E14C-A030-6E387EE02F30}" dt="2023-03-23T01:17:57.471" v="17" actId="27636"/>
        <pc:sldMkLst>
          <pc:docMk/>
          <pc:sldMk cId="2582275777" sldId="351"/>
        </pc:sldMkLst>
        <pc:spChg chg="mod">
          <ac:chgData name="Kiran Sreedhar Ram" userId="b688cbea-cdc8-41f2-88ad-6b3e3fc22e99" providerId="ADAL" clId="{BFB471A4-9DE5-E14C-A030-6E387EE02F30}" dt="2023-03-23T01:17:57.471" v="17" actId="27636"/>
          <ac:spMkLst>
            <pc:docMk/>
            <pc:sldMk cId="2582275777" sldId="351"/>
            <ac:spMk id="36868" creationId="{00000000-0000-0000-0000-000000000000}"/>
          </ac:spMkLst>
        </pc:spChg>
      </pc:sldChg>
      <pc:sldChg chg="add del">
        <pc:chgData name="Kiran Sreedhar Ram" userId="b688cbea-cdc8-41f2-88ad-6b3e3fc22e99" providerId="ADAL" clId="{BFB471A4-9DE5-E14C-A030-6E387EE02F30}" dt="2023-03-23T01:24:51.484" v="43"/>
        <pc:sldMkLst>
          <pc:docMk/>
          <pc:sldMk cId="3169569705" sldId="355"/>
        </pc:sldMkLst>
      </pc:sldChg>
      <pc:sldChg chg="add del">
        <pc:chgData name="Kiran Sreedhar Ram" userId="b688cbea-cdc8-41f2-88ad-6b3e3fc22e99" providerId="ADAL" clId="{BFB471A4-9DE5-E14C-A030-6E387EE02F30}" dt="2023-03-23T01:25:05.833" v="45"/>
        <pc:sldMkLst>
          <pc:docMk/>
          <pc:sldMk cId="1006132682" sldId="356"/>
        </pc:sldMkLst>
      </pc:sldChg>
      <pc:sldChg chg="del">
        <pc:chgData name="Kiran Sreedhar Ram" userId="b688cbea-cdc8-41f2-88ad-6b3e3fc22e99" providerId="ADAL" clId="{BFB471A4-9DE5-E14C-A030-6E387EE02F30}" dt="2023-03-23T01:24:18.377" v="29" actId="2696"/>
        <pc:sldMkLst>
          <pc:docMk/>
          <pc:sldMk cId="1636635356" sldId="362"/>
        </pc:sldMkLst>
      </pc:sldChg>
      <pc:sldChg chg="del">
        <pc:chgData name="Kiran Sreedhar Ram" userId="b688cbea-cdc8-41f2-88ad-6b3e3fc22e99" providerId="ADAL" clId="{BFB471A4-9DE5-E14C-A030-6E387EE02F30}" dt="2023-03-23T01:21:44.987" v="22" actId="2696"/>
        <pc:sldMkLst>
          <pc:docMk/>
          <pc:sldMk cId="2302901369" sldId="371"/>
        </pc:sldMkLst>
      </pc:sldChg>
      <pc:sldChg chg="add">
        <pc:chgData name="Kiran Sreedhar Ram" userId="b688cbea-cdc8-41f2-88ad-6b3e3fc22e99" providerId="ADAL" clId="{BFB471A4-9DE5-E14C-A030-6E387EE02F30}" dt="2023-03-23T01:19:43.834" v="19"/>
        <pc:sldMkLst>
          <pc:docMk/>
          <pc:sldMk cId="3664462642" sldId="373"/>
        </pc:sldMkLst>
      </pc:sldChg>
      <pc:sldChg chg="del">
        <pc:chgData name="Kiran Sreedhar Ram" userId="b688cbea-cdc8-41f2-88ad-6b3e3fc22e99" providerId="ADAL" clId="{BFB471A4-9DE5-E14C-A030-6E387EE02F30}" dt="2023-03-23T01:15:46.911" v="7" actId="2696"/>
        <pc:sldMkLst>
          <pc:docMk/>
          <pc:sldMk cId="4120465532" sldId="373"/>
        </pc:sldMkLst>
      </pc:sldChg>
      <pc:sldChg chg="add">
        <pc:chgData name="Kiran Sreedhar Ram" userId="b688cbea-cdc8-41f2-88ad-6b3e3fc22e99" providerId="ADAL" clId="{BFB471A4-9DE5-E14C-A030-6E387EE02F30}" dt="2023-03-23T01:20:43.011" v="21"/>
        <pc:sldMkLst>
          <pc:docMk/>
          <pc:sldMk cId="2834257468" sldId="374"/>
        </pc:sldMkLst>
      </pc:sldChg>
      <pc:sldChg chg="del">
        <pc:chgData name="Kiran Sreedhar Ram" userId="b688cbea-cdc8-41f2-88ad-6b3e3fc22e99" providerId="ADAL" clId="{BFB471A4-9DE5-E14C-A030-6E387EE02F30}" dt="2023-03-23T01:15:44.067" v="6" actId="2696"/>
        <pc:sldMkLst>
          <pc:docMk/>
          <pc:sldMk cId="4254181007" sldId="374"/>
        </pc:sldMkLst>
      </pc:sldChg>
      <pc:sldChg chg="del">
        <pc:chgData name="Kiran Sreedhar Ram" userId="b688cbea-cdc8-41f2-88ad-6b3e3fc22e99" providerId="ADAL" clId="{BFB471A4-9DE5-E14C-A030-6E387EE02F30}" dt="2023-03-23T01:15:42.271" v="5" actId="2696"/>
        <pc:sldMkLst>
          <pc:docMk/>
          <pc:sldMk cId="530506490" sldId="375"/>
        </pc:sldMkLst>
      </pc:sldChg>
      <pc:sldChg chg="add">
        <pc:chgData name="Kiran Sreedhar Ram" userId="b688cbea-cdc8-41f2-88ad-6b3e3fc22e99" providerId="ADAL" clId="{BFB471A4-9DE5-E14C-A030-6E387EE02F30}" dt="2023-03-23T01:23:58.337" v="24"/>
        <pc:sldMkLst>
          <pc:docMk/>
          <pc:sldMk cId="1929428537" sldId="375"/>
        </pc:sldMkLst>
      </pc:sldChg>
      <pc:sldChg chg="del">
        <pc:chgData name="Kiran Sreedhar Ram" userId="b688cbea-cdc8-41f2-88ad-6b3e3fc22e99" providerId="ADAL" clId="{BFB471A4-9DE5-E14C-A030-6E387EE02F30}" dt="2023-03-23T01:15:40.258" v="4" actId="2696"/>
        <pc:sldMkLst>
          <pc:docMk/>
          <pc:sldMk cId="3157382996" sldId="376"/>
        </pc:sldMkLst>
      </pc:sldChg>
      <pc:sldChg chg="del">
        <pc:chgData name="Kiran Sreedhar Ram" userId="b688cbea-cdc8-41f2-88ad-6b3e3fc22e99" providerId="ADAL" clId="{BFB471A4-9DE5-E14C-A030-6E387EE02F30}" dt="2023-03-23T01:15:38.312" v="3" actId="2696"/>
        <pc:sldMkLst>
          <pc:docMk/>
          <pc:sldMk cId="499381836" sldId="377"/>
        </pc:sldMkLst>
      </pc:sldChg>
      <pc:sldChg chg="del">
        <pc:chgData name="Kiran Sreedhar Ram" userId="b688cbea-cdc8-41f2-88ad-6b3e3fc22e99" providerId="ADAL" clId="{BFB471A4-9DE5-E14C-A030-6E387EE02F30}" dt="2023-03-23T01:15:35.749" v="2" actId="2696"/>
        <pc:sldMkLst>
          <pc:docMk/>
          <pc:sldMk cId="535818391" sldId="378"/>
        </pc:sldMkLst>
      </pc:sldChg>
      <pc:sldChg chg="del">
        <pc:chgData name="Kiran Sreedhar Ram" userId="b688cbea-cdc8-41f2-88ad-6b3e3fc22e99" providerId="ADAL" clId="{BFB471A4-9DE5-E14C-A030-6E387EE02F30}" dt="2023-03-23T01:15:34.089" v="1" actId="2696"/>
        <pc:sldMkLst>
          <pc:docMk/>
          <pc:sldMk cId="949836370" sldId="379"/>
        </pc:sldMkLst>
      </pc:sldChg>
      <pc:sldChg chg="del">
        <pc:chgData name="Kiran Sreedhar Ram" userId="b688cbea-cdc8-41f2-88ad-6b3e3fc22e99" providerId="ADAL" clId="{BFB471A4-9DE5-E14C-A030-6E387EE02F30}" dt="2023-03-23T01:24:10.437" v="25" actId="2696"/>
        <pc:sldMkLst>
          <pc:docMk/>
          <pc:sldMk cId="813348394" sldId="380"/>
        </pc:sldMkLst>
      </pc:sldChg>
      <pc:sldChg chg="del">
        <pc:chgData name="Kiran Sreedhar Ram" userId="b688cbea-cdc8-41f2-88ad-6b3e3fc22e99" providerId="ADAL" clId="{BFB471A4-9DE5-E14C-A030-6E387EE02F30}" dt="2023-03-23T01:24:19.439" v="31" actId="2696"/>
        <pc:sldMkLst>
          <pc:docMk/>
          <pc:sldMk cId="1528165683" sldId="381"/>
        </pc:sldMkLst>
      </pc:sldChg>
      <pc:sldChg chg="del">
        <pc:chgData name="Kiran Sreedhar Ram" userId="b688cbea-cdc8-41f2-88ad-6b3e3fc22e99" providerId="ADAL" clId="{BFB471A4-9DE5-E14C-A030-6E387EE02F30}" dt="2023-03-23T01:24:18.937" v="30" actId="2696"/>
        <pc:sldMkLst>
          <pc:docMk/>
          <pc:sldMk cId="4035990469" sldId="382"/>
        </pc:sldMkLst>
      </pc:sldChg>
      <pc:sldChg chg="del">
        <pc:chgData name="Kiran Sreedhar Ram" userId="b688cbea-cdc8-41f2-88ad-6b3e3fc22e99" providerId="ADAL" clId="{BFB471A4-9DE5-E14C-A030-6E387EE02F30}" dt="2023-03-23T01:24:17.918" v="28" actId="2696"/>
        <pc:sldMkLst>
          <pc:docMk/>
          <pc:sldMk cId="904371553" sldId="383"/>
        </pc:sldMkLst>
      </pc:sldChg>
      <pc:sldChg chg="del">
        <pc:chgData name="Kiran Sreedhar Ram" userId="b688cbea-cdc8-41f2-88ad-6b3e3fc22e99" providerId="ADAL" clId="{BFB471A4-9DE5-E14C-A030-6E387EE02F30}" dt="2023-03-23T01:24:17.588" v="27" actId="2696"/>
        <pc:sldMkLst>
          <pc:docMk/>
          <pc:sldMk cId="411782857" sldId="384"/>
        </pc:sldMkLst>
      </pc:sldChg>
      <pc:sldChg chg="del">
        <pc:chgData name="Kiran Sreedhar Ram" userId="b688cbea-cdc8-41f2-88ad-6b3e3fc22e99" providerId="ADAL" clId="{BFB471A4-9DE5-E14C-A030-6E387EE02F30}" dt="2023-03-23T01:24:11.426" v="26" actId="2696"/>
        <pc:sldMkLst>
          <pc:docMk/>
          <pc:sldMk cId="1256661174" sldId="385"/>
        </pc:sldMkLst>
      </pc:sldChg>
      <pc:sldChg chg="del">
        <pc:chgData name="Kiran Sreedhar Ram" userId="b688cbea-cdc8-41f2-88ad-6b3e3fc22e99" providerId="ADAL" clId="{BFB471A4-9DE5-E14C-A030-6E387EE02F30}" dt="2023-03-23T01:24:20.233" v="32" actId="2696"/>
        <pc:sldMkLst>
          <pc:docMk/>
          <pc:sldMk cId="1167725645" sldId="386"/>
        </pc:sldMkLst>
      </pc:sldChg>
      <pc:sldChg chg="del">
        <pc:chgData name="Kiran Sreedhar Ram" userId="b688cbea-cdc8-41f2-88ad-6b3e3fc22e99" providerId="ADAL" clId="{BFB471A4-9DE5-E14C-A030-6E387EE02F30}" dt="2023-03-23T01:24:20.497" v="33" actId="2696"/>
        <pc:sldMkLst>
          <pc:docMk/>
          <pc:sldMk cId="1315261541" sldId="387"/>
        </pc:sldMkLst>
      </pc:sldChg>
      <pc:sldChg chg="del">
        <pc:chgData name="Kiran Sreedhar Ram" userId="b688cbea-cdc8-41f2-88ad-6b3e3fc22e99" providerId="ADAL" clId="{BFB471A4-9DE5-E14C-A030-6E387EE02F30}" dt="2023-03-23T01:24:20.902" v="34" actId="2696"/>
        <pc:sldMkLst>
          <pc:docMk/>
          <pc:sldMk cId="3092315438" sldId="388"/>
        </pc:sldMkLst>
      </pc:sldChg>
      <pc:sldChg chg="del">
        <pc:chgData name="Kiran Sreedhar Ram" userId="b688cbea-cdc8-41f2-88ad-6b3e3fc22e99" providerId="ADAL" clId="{BFB471A4-9DE5-E14C-A030-6E387EE02F30}" dt="2023-03-23T01:24:21.559" v="35" actId="2696"/>
        <pc:sldMkLst>
          <pc:docMk/>
          <pc:sldMk cId="1462666530" sldId="389"/>
        </pc:sldMkLst>
      </pc:sldChg>
      <pc:sldChg chg="del">
        <pc:chgData name="Kiran Sreedhar Ram" userId="b688cbea-cdc8-41f2-88ad-6b3e3fc22e99" providerId="ADAL" clId="{BFB471A4-9DE5-E14C-A030-6E387EE02F30}" dt="2023-03-23T01:24:22.052" v="36" actId="2696"/>
        <pc:sldMkLst>
          <pc:docMk/>
          <pc:sldMk cId="3965967799" sldId="390"/>
        </pc:sldMkLst>
      </pc:sldChg>
      <pc:sldChg chg="del">
        <pc:chgData name="Kiran Sreedhar Ram" userId="b688cbea-cdc8-41f2-88ad-6b3e3fc22e99" providerId="ADAL" clId="{BFB471A4-9DE5-E14C-A030-6E387EE02F30}" dt="2023-03-23T01:24:22.315" v="37" actId="2696"/>
        <pc:sldMkLst>
          <pc:docMk/>
          <pc:sldMk cId="2939013080" sldId="391"/>
        </pc:sldMkLst>
      </pc:sldChg>
      <pc:sldChg chg="del">
        <pc:chgData name="Kiran Sreedhar Ram" userId="b688cbea-cdc8-41f2-88ad-6b3e3fc22e99" providerId="ADAL" clId="{BFB471A4-9DE5-E14C-A030-6E387EE02F30}" dt="2023-03-23T01:24:22.622" v="38" actId="2696"/>
        <pc:sldMkLst>
          <pc:docMk/>
          <pc:sldMk cId="3859944934" sldId="392"/>
        </pc:sldMkLst>
      </pc:sldChg>
      <pc:sldChg chg="del">
        <pc:chgData name="Kiran Sreedhar Ram" userId="b688cbea-cdc8-41f2-88ad-6b3e3fc22e99" providerId="ADAL" clId="{BFB471A4-9DE5-E14C-A030-6E387EE02F30}" dt="2023-03-23T01:24:23.136" v="39" actId="2696"/>
        <pc:sldMkLst>
          <pc:docMk/>
          <pc:sldMk cId="414115369" sldId="393"/>
        </pc:sldMkLst>
      </pc:sldChg>
      <pc:sldChg chg="del">
        <pc:chgData name="Kiran Sreedhar Ram" userId="b688cbea-cdc8-41f2-88ad-6b3e3fc22e99" providerId="ADAL" clId="{BFB471A4-9DE5-E14C-A030-6E387EE02F30}" dt="2023-03-23T01:24:23.706" v="41" actId="2696"/>
        <pc:sldMkLst>
          <pc:docMk/>
          <pc:sldMk cId="2386886013" sldId="394"/>
        </pc:sldMkLst>
      </pc:sldChg>
      <pc:sldChg chg="del">
        <pc:chgData name="Kiran Sreedhar Ram" userId="b688cbea-cdc8-41f2-88ad-6b3e3fc22e99" providerId="ADAL" clId="{BFB471A4-9DE5-E14C-A030-6E387EE02F30}" dt="2023-03-23T01:24:23.475" v="40" actId="2696"/>
        <pc:sldMkLst>
          <pc:docMk/>
          <pc:sldMk cId="4026491360" sldId="39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vl1pPr>
          </a:lstStyle>
          <a:p>
            <a:pPr>
              <a:defRPr/>
            </a:pPr>
            <a:endParaRPr lang="en-US" dirty="0"/>
          </a:p>
        </p:txBody>
      </p:sp>
      <p:sp>
        <p:nvSpPr>
          <p:cNvPr id="5939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vl1pPr>
          </a:lstStyle>
          <a:p>
            <a:pPr>
              <a:defRPr/>
            </a:pPr>
            <a:endParaRPr lang="en-US" dirty="0"/>
          </a:p>
        </p:txBody>
      </p:sp>
      <p:sp>
        <p:nvSpPr>
          <p:cNvPr id="5939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5D506093-76EC-4654-97ED-C937825C86AD}" type="slidenum">
              <a:rPr lang="en-US"/>
              <a:pPr>
                <a:defRPr/>
              </a:pPr>
              <a:t>‹#›</a:t>
            </a:fld>
            <a:endParaRPr lang="en-US" dirty="0"/>
          </a:p>
        </p:txBody>
      </p:sp>
    </p:spTree>
    <p:extLst>
      <p:ext uri="{BB962C8B-B14F-4D97-AF65-F5344CB8AC3E}">
        <p14:creationId xmlns:p14="http://schemas.microsoft.com/office/powerpoint/2010/main" val="13763516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vl1pPr>
          </a:lstStyle>
          <a:p>
            <a:pPr>
              <a:defRPr/>
            </a:pPr>
            <a:endParaRPr lang="en-US" dirty="0"/>
          </a:p>
        </p:txBody>
      </p:sp>
      <p:sp>
        <p:nvSpPr>
          <p:cNvPr id="36867" name="Rectangle 3"/>
          <p:cNvSpPr>
            <a:spLocks noGrp="1" noChangeArrowheads="1"/>
          </p:cNvSpPr>
          <p:nvPr>
            <p:ph type="dt"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vl1pPr>
          </a:lstStyle>
          <a:p>
            <a:pPr>
              <a:defRPr/>
            </a:pPr>
            <a:endParaRPr lang="en-US" dirty="0"/>
          </a:p>
        </p:txBody>
      </p:sp>
      <p:sp>
        <p:nvSpPr>
          <p:cNvPr id="55300"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vl1pPr>
          </a:lstStyle>
          <a:p>
            <a:pPr>
              <a:defRPr/>
            </a:pPr>
            <a:endParaRPr lang="en-US" dirty="0"/>
          </a:p>
        </p:txBody>
      </p:sp>
      <p:sp>
        <p:nvSpPr>
          <p:cNvPr id="36871" name="Rectangle 7"/>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9C16AC59-E3EE-40B4-82D2-11539B8742C6}" type="slidenum">
              <a:rPr lang="en-US"/>
              <a:pPr>
                <a:defRPr/>
              </a:pPr>
              <a:t>‹#›</a:t>
            </a:fld>
            <a:endParaRPr lang="en-US" dirty="0"/>
          </a:p>
        </p:txBody>
      </p:sp>
    </p:spTree>
    <p:extLst>
      <p:ext uri="{BB962C8B-B14F-4D97-AF65-F5344CB8AC3E}">
        <p14:creationId xmlns:p14="http://schemas.microsoft.com/office/powerpoint/2010/main" val="40615428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kumimoji="0" lang="en-US" dirty="0">
              <a:solidFill>
                <a:schemeClr val="accent1">
                  <a:tint val="20000"/>
                </a:schemeClr>
              </a:solidFill>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1B0D35BF-F574-4F11-AEB4-DBA40A862950}" type="slidenum">
              <a:rPr lang="en-US" smtClean="0"/>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Unicode MS" pitchFamily="34" charset="-128"/>
                <a:ea typeface="Arial Unicode MS" pitchFamily="34" charset="-128"/>
                <a:cs typeface="Arial Unicode MS" pitchFamily="34" charset="-128"/>
              </a:defRPr>
            </a:lvl1pPr>
            <a:lvl2pPr>
              <a:defRPr>
                <a:latin typeface="Arial Unicode MS" pitchFamily="34" charset="-128"/>
                <a:ea typeface="Arial Unicode MS" pitchFamily="34" charset="-128"/>
                <a:cs typeface="Arial Unicode MS" pitchFamily="34" charset="-128"/>
              </a:defRPr>
            </a:lvl2pPr>
            <a:lvl3pPr>
              <a:defRPr>
                <a:latin typeface="Arial Unicode MS" pitchFamily="34" charset="-128"/>
                <a:ea typeface="Arial Unicode MS" pitchFamily="34" charset="-128"/>
                <a:cs typeface="Arial Unicode MS" pitchFamily="34" charset="-128"/>
              </a:defRPr>
            </a:lvl3pPr>
            <a:lvl4pPr>
              <a:defRPr>
                <a:latin typeface="Arial Unicode MS" pitchFamily="34" charset="-128"/>
                <a:ea typeface="Arial Unicode MS" pitchFamily="34" charset="-128"/>
                <a:cs typeface="Arial Unicode MS" pitchFamily="34" charset="-128"/>
              </a:defRPr>
            </a:lvl4pPr>
            <a:lvl5pPr>
              <a:defRPr>
                <a:latin typeface="Arial Unicode MS" pitchFamily="34" charset="-128"/>
                <a:ea typeface="Arial Unicode MS" pitchFamily="34" charset="-128"/>
                <a:cs typeface="Arial Unicode MS" pitchFamily="34" charset="-128"/>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a:xfrm>
            <a:off x="8778240" y="6492875"/>
            <a:ext cx="365760" cy="365125"/>
          </a:xfrm>
        </p:spPr>
        <p:txBody>
          <a:bodyPr/>
          <a:lstStyle>
            <a:lvl1pPr marL="0" indent="0">
              <a:buNone/>
              <a:defRPr sz="1100">
                <a:latin typeface="Arial Unicode MS" pitchFamily="34" charset="-128"/>
                <a:ea typeface="Arial Unicode MS" pitchFamily="34" charset="-128"/>
                <a:cs typeface="Arial Unicode MS" pitchFamily="34" charset="-128"/>
              </a:defRPr>
            </a:lvl1pPr>
            <a:extLst/>
          </a:lstStyle>
          <a:p>
            <a:pPr>
              <a:defRPr/>
            </a:pPr>
            <a:fld id="{7D50B42D-15A3-498E-9545-76378AC2C625}" type="slidenum">
              <a:rPr lang="en-US" smtClean="0"/>
              <a:pPr>
                <a:defRPr/>
              </a:pPr>
              <a:t>‹#›</a:t>
            </a:fld>
            <a:endParaRPr lang="en-US" dirty="0"/>
          </a:p>
        </p:txBody>
      </p:sp>
      <p:sp>
        <p:nvSpPr>
          <p:cNvPr id="7" name="Title 6"/>
          <p:cNvSpPr>
            <a:spLocks noGrp="1"/>
          </p:cNvSpPr>
          <p:nvPr>
            <p:ph type="title"/>
          </p:nvPr>
        </p:nvSpPr>
        <p:spPr/>
        <p:txBody>
          <a:bodyPr rtlCol="0"/>
          <a:lstStyle>
            <a:lvl1pPr>
              <a:defRPr>
                <a:solidFill>
                  <a:schemeClr val="tx1"/>
                </a:solidFill>
                <a:latin typeface="Arial Unicode MS" pitchFamily="34" charset="-128"/>
                <a:ea typeface="Arial Unicode MS" pitchFamily="34" charset="-128"/>
                <a:cs typeface="Arial Unicode MS" pitchFamily="34" charset="-128"/>
              </a:defRPr>
            </a:lvl1pPr>
            <a:extLst/>
          </a:lstStyle>
          <a:p>
            <a:r>
              <a:rPr kumimoji="0" lang="en-US" dirty="0"/>
              <a:t>Click to edit Master title style</a:t>
            </a:r>
          </a:p>
        </p:txBody>
      </p:sp>
      <p:sp>
        <p:nvSpPr>
          <p:cNvPr id="8" name="Footer Placeholder 21"/>
          <p:cNvSpPr txBox="1">
            <a:spLocks/>
          </p:cNvSpPr>
          <p:nvPr userDrawn="1"/>
        </p:nvSpPr>
        <p:spPr>
          <a:xfrm>
            <a:off x="5257800" y="6477000"/>
            <a:ext cx="3429000" cy="365125"/>
          </a:xfrm>
          <a:prstGeom prst="rect">
            <a:avLst/>
          </a:prstGeom>
        </p:spPr>
        <p:txBody>
          <a:bodyPr anchor="b"/>
          <a:lstStyle>
            <a:lvl1pPr algn="l">
              <a:buFontTx/>
              <a:buNone/>
              <a:defRPr smtClean="0"/>
            </a:lvl1pPr>
          </a:lstStyle>
          <a:p>
            <a:pPr>
              <a:defRPr/>
            </a:pPr>
            <a:r>
              <a:rPr lang="en-US" sz="1200" i="1" dirty="0">
                <a:latin typeface="Arial Unicode MS" pitchFamily="34" charset="-128"/>
                <a:ea typeface="Arial Unicode MS" pitchFamily="34" charset="-128"/>
                <a:cs typeface="Arial Unicode MS" pitchFamily="34" charset="-128"/>
              </a:rPr>
              <a:t>Copyright 2021</a:t>
            </a:r>
            <a:r>
              <a:rPr lang="en-US" sz="1200" i="1" baseline="0" dirty="0">
                <a:latin typeface="Arial Unicode MS" pitchFamily="34" charset="-128"/>
                <a:ea typeface="Arial Unicode MS" pitchFamily="34" charset="-128"/>
                <a:cs typeface="Arial Unicode MS" pitchFamily="34" charset="-128"/>
              </a:rPr>
              <a:t> </a:t>
            </a:r>
            <a:r>
              <a:rPr lang="en-US" sz="1200" i="1" dirty="0">
                <a:latin typeface="Arial Unicode MS" pitchFamily="34" charset="-128"/>
                <a:ea typeface="Arial Unicode MS" pitchFamily="34" charset="-128"/>
                <a:cs typeface="Arial Unicode MS" pitchFamily="34" charset="-128"/>
              </a:rPr>
              <a:t>Schwalbe Publishing</a:t>
            </a:r>
            <a:endParaRPr lang="en-US" sz="1200" dirty="0">
              <a:latin typeface="Arial Unicode MS" pitchFamily="34" charset="-128"/>
              <a:ea typeface="Arial Unicode MS" pitchFamily="34" charset="-128"/>
              <a:cs typeface="Arial Unicode MS" pitchFamily="34" charset="-128"/>
            </a:endParaRPr>
          </a:p>
        </p:txBody>
      </p:sp>
      <p:pic>
        <p:nvPicPr>
          <p:cNvPr id="10" name="Picture 9">
            <a:extLst>
              <a:ext uri="{FF2B5EF4-FFF2-40B4-BE49-F238E27FC236}">
                <a16:creationId xmlns:a16="http://schemas.microsoft.com/office/drawing/2014/main" id="{C215F05F-22BB-4CFA-81E6-AB6E5DBB4A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200" y="6180434"/>
            <a:ext cx="990600" cy="59425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Introduction to Project Management, Second Edition</a:t>
            </a:r>
          </a:p>
        </p:txBody>
      </p:sp>
      <p:sp>
        <p:nvSpPr>
          <p:cNvPr id="6" name="Slide Number Placeholder 5"/>
          <p:cNvSpPr>
            <a:spLocks noGrp="1"/>
          </p:cNvSpPr>
          <p:nvPr>
            <p:ph type="sldNum" sz="quarter" idx="12"/>
          </p:nvPr>
        </p:nvSpPr>
        <p:spPr/>
        <p:txBody>
          <a:bodyPr/>
          <a:lstStyle/>
          <a:p>
            <a:pPr>
              <a:defRPr/>
            </a:pPr>
            <a:fld id="{DF7EDF1F-24D6-4F2A-85B5-0A724483C6A7}" type="slidenum">
              <a:rPr lang="en-US" smtClean="0"/>
              <a:pPr>
                <a:defRPr/>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dirty="0"/>
              <a:t>Introduction to Project Management, Second Edition</a:t>
            </a:r>
          </a:p>
        </p:txBody>
      </p:sp>
      <p:sp>
        <p:nvSpPr>
          <p:cNvPr id="7" name="Slide Number Placeholder 6"/>
          <p:cNvSpPr>
            <a:spLocks noGrp="1"/>
          </p:cNvSpPr>
          <p:nvPr>
            <p:ph type="sldNum" sz="quarter" idx="12"/>
          </p:nvPr>
        </p:nvSpPr>
        <p:spPr/>
        <p:txBody>
          <a:bodyPr/>
          <a:lstStyle/>
          <a:p>
            <a:pPr>
              <a:defRPr/>
            </a:pPr>
            <a:fld id="{3D6D5E77-51ED-4059-979A-B8A4122176A1}" type="slidenum">
              <a:rPr lang="en-US" smtClean="0"/>
              <a:pPr>
                <a:defRPr/>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dirty="0"/>
              <a:t>Introduction to Project Management, Second Edition</a:t>
            </a:r>
          </a:p>
        </p:txBody>
      </p:sp>
      <p:sp>
        <p:nvSpPr>
          <p:cNvPr id="9" name="Slide Number Placeholder 8"/>
          <p:cNvSpPr>
            <a:spLocks noGrp="1"/>
          </p:cNvSpPr>
          <p:nvPr>
            <p:ph type="sldNum" sz="quarter" idx="12"/>
          </p:nvPr>
        </p:nvSpPr>
        <p:spPr/>
        <p:txBody>
          <a:bodyPr/>
          <a:lstStyle/>
          <a:p>
            <a:pPr>
              <a:defRPr/>
            </a:pPr>
            <a:fld id="{3118DD47-7892-4E25-8D1A-9CCE86111184}"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dirty="0"/>
              <a:t>Introduction to Project Management, Second Edition</a:t>
            </a:r>
          </a:p>
        </p:txBody>
      </p:sp>
      <p:sp>
        <p:nvSpPr>
          <p:cNvPr id="5" name="Slide Number Placeholder 4"/>
          <p:cNvSpPr>
            <a:spLocks noGrp="1"/>
          </p:cNvSpPr>
          <p:nvPr>
            <p:ph type="sldNum" sz="quarter" idx="12"/>
          </p:nvPr>
        </p:nvSpPr>
        <p:spPr/>
        <p:txBody>
          <a:bodyPr/>
          <a:lstStyle/>
          <a:p>
            <a:pPr>
              <a:defRPr/>
            </a:pPr>
            <a:fld id="{AD28E163-B446-4BD5-B807-E74B5E3673BF}" type="slidenum">
              <a:rPr lang="en-US" smtClean="0"/>
              <a:pPr>
                <a:defRPr/>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dirty="0"/>
              <a:t>Introduction to Project Management, Second Edition</a:t>
            </a:r>
          </a:p>
        </p:txBody>
      </p:sp>
      <p:sp>
        <p:nvSpPr>
          <p:cNvPr id="4" name="Slide Number Placeholder 3"/>
          <p:cNvSpPr>
            <a:spLocks noGrp="1"/>
          </p:cNvSpPr>
          <p:nvPr>
            <p:ph type="sldNum" sz="quarter" idx="12"/>
          </p:nvPr>
        </p:nvSpPr>
        <p:spPr/>
        <p:txBody>
          <a:bodyPr/>
          <a:lstStyle/>
          <a:p>
            <a:pPr>
              <a:defRPr/>
            </a:pPr>
            <a:fld id="{1FB7E498-7381-425F-9DEA-F32025164311}"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dirty="0"/>
              <a:t>Introduction to Project Management, Second Edition</a:t>
            </a:r>
          </a:p>
        </p:txBody>
      </p:sp>
      <p:sp>
        <p:nvSpPr>
          <p:cNvPr id="7" name="Slide Number Placeholder 6"/>
          <p:cNvSpPr>
            <a:spLocks noGrp="1"/>
          </p:cNvSpPr>
          <p:nvPr>
            <p:ph type="sldNum" sz="quarter" idx="12"/>
          </p:nvPr>
        </p:nvSpPr>
        <p:spPr/>
        <p:txBody>
          <a:bodyPr/>
          <a:lstStyle/>
          <a:p>
            <a:pPr>
              <a:defRPr/>
            </a:pPr>
            <a:fld id="{615CEF93-0286-452D-8026-FA995E82729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r>
              <a:rPr lang="en-US" dirty="0"/>
              <a:t>Introduction to Project Management, Second Edition</a:t>
            </a: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B37BE25B-31EC-4B59-8B47-6452AE827797}" type="slidenum">
              <a:rPr lang="en-US" smtClean="0"/>
              <a:pPr>
                <a:defRPr/>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Introduction to Project Management, Second Edition</a:t>
            </a:r>
          </a:p>
        </p:txBody>
      </p:sp>
      <p:sp>
        <p:nvSpPr>
          <p:cNvPr id="6" name="Slide Number Placeholder 5"/>
          <p:cNvSpPr>
            <a:spLocks noGrp="1"/>
          </p:cNvSpPr>
          <p:nvPr>
            <p:ph type="sldNum" sz="quarter" idx="12"/>
          </p:nvPr>
        </p:nvSpPr>
        <p:spPr/>
        <p:txBody>
          <a:bodyPr/>
          <a:lstStyle/>
          <a:p>
            <a:pPr>
              <a:defRPr/>
            </a:pPr>
            <a:fld id="{A6054FEF-58DF-4E67-AD15-9E5CEC7508AA}"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dirty="0"/>
              <a:t>Introduction to Project Management, Second Edition</a:t>
            </a:r>
          </a:p>
        </p:txBody>
      </p:sp>
      <p:sp>
        <p:nvSpPr>
          <p:cNvPr id="6" name="Slide Number Placeholder 5"/>
          <p:cNvSpPr>
            <a:spLocks noGrp="1"/>
          </p:cNvSpPr>
          <p:nvPr>
            <p:ph type="sldNum" sz="quarter" idx="12"/>
          </p:nvPr>
        </p:nvSpPr>
        <p:spPr/>
        <p:txBody>
          <a:bodyPr/>
          <a:lstStyle/>
          <a:p>
            <a:pPr>
              <a:defRPr/>
            </a:pPr>
            <a:fld id="{2F625E6D-ABED-46A8-B087-26E81C534D67}"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a:t>Introduction to Project Management, Second Edition</a:t>
            </a: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737B5A25-24BE-40E7-BE53-78EF1BE798B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066800" y="2286000"/>
            <a:ext cx="7772400" cy="1143000"/>
          </a:xfrm>
        </p:spPr>
        <p:txBody>
          <a:bodyPr>
            <a:noAutofit/>
          </a:bodyPr>
          <a:lstStyle/>
          <a:p>
            <a:pPr eaLnBrk="1" fontAlgn="auto" hangingPunct="1">
              <a:spcAft>
                <a:spcPts val="0"/>
              </a:spcAft>
              <a:defRPr/>
            </a:pPr>
            <a:r>
              <a:rPr lang="en-US" dirty="0">
                <a:latin typeface="Arial Unicode MS" pitchFamily="34" charset="-128"/>
                <a:ea typeface="Arial Unicode MS" pitchFamily="34" charset="-128"/>
                <a:cs typeface="Arial Unicode MS" pitchFamily="34" charset="-128"/>
              </a:rPr>
              <a:t>Chapter 3:</a:t>
            </a:r>
            <a:br>
              <a:rPr lang="en-US" dirty="0">
                <a:latin typeface="Arial Unicode MS" pitchFamily="34" charset="-128"/>
                <a:ea typeface="Arial Unicode MS" pitchFamily="34" charset="-128"/>
                <a:cs typeface="Arial Unicode MS" pitchFamily="34" charset="-128"/>
              </a:rPr>
            </a:br>
            <a:r>
              <a:rPr lang="en-US" dirty="0">
                <a:latin typeface="Arial Unicode MS" pitchFamily="34" charset="-128"/>
                <a:ea typeface="Arial Unicode MS" pitchFamily="34" charset="-128"/>
                <a:cs typeface="Arial Unicode MS" pitchFamily="34" charset="-128"/>
              </a:rPr>
              <a:t>Initiating Projects</a:t>
            </a:r>
          </a:p>
        </p:txBody>
      </p:sp>
      <p:sp>
        <p:nvSpPr>
          <p:cNvPr id="5" name="TextBox 4"/>
          <p:cNvSpPr txBox="1"/>
          <p:nvPr/>
        </p:nvSpPr>
        <p:spPr>
          <a:xfrm>
            <a:off x="76200" y="4419600"/>
            <a:ext cx="8626079" cy="369332"/>
          </a:xfrm>
          <a:prstGeom prst="rect">
            <a:avLst/>
          </a:prstGeom>
          <a:noFill/>
        </p:spPr>
        <p:txBody>
          <a:bodyPr wrap="none" rtlCol="0">
            <a:spAutoFit/>
          </a:bodyPr>
          <a:lstStyle/>
          <a:p>
            <a:pPr>
              <a:buNone/>
            </a:pPr>
            <a:r>
              <a:rPr lang="en-US" sz="2000" dirty="0">
                <a:latin typeface="Arial Unicode MS" pitchFamily="34" charset="-128"/>
                <a:ea typeface="Arial Unicode MS" pitchFamily="34" charset="-128"/>
                <a:cs typeface="Arial Unicode MS" pitchFamily="34" charset="-128"/>
              </a:rPr>
              <a:t>Note: See the text itself for full citations. Text website is http://intropm</a:t>
            </a:r>
            <a:r>
              <a:rPr lang="en-US" sz="2000">
                <a:latin typeface="Arial Unicode MS" pitchFamily="34" charset="-128"/>
                <a:ea typeface="Arial Unicode MS" pitchFamily="34" charset="-128"/>
                <a:cs typeface="Arial Unicode MS" pitchFamily="34" charset="-128"/>
              </a:rPr>
              <a:t>.com.</a:t>
            </a:r>
            <a:endParaRPr lang="en-US" sz="2000" dirty="0">
              <a:latin typeface="Arial Unicode MS" pitchFamily="34" charset="-128"/>
              <a:ea typeface="Arial Unicode MS" pitchFamily="34" charset="-128"/>
              <a:cs typeface="Arial Unicode MS" pitchFamily="34" charset="-128"/>
            </a:endParaRPr>
          </a:p>
        </p:txBody>
      </p:sp>
      <p:pic>
        <p:nvPicPr>
          <p:cNvPr id="6" name="Picture 5" descr="A group of geese on a beach&#10;&#10;Description automatically generated with low confidence">
            <a:extLst>
              <a:ext uri="{FF2B5EF4-FFF2-40B4-BE49-F238E27FC236}">
                <a16:creationId xmlns:a16="http://schemas.microsoft.com/office/drawing/2014/main" id="{D9BAF877-EB39-461D-BCAF-9B1AA8C7D0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5887"/>
            <a:ext cx="1791232" cy="229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228600" y="274638"/>
            <a:ext cx="8686800" cy="1143000"/>
          </a:xfrm>
        </p:spPr>
        <p:txBody>
          <a:bodyPr>
            <a:normAutofit fontScale="90000"/>
          </a:bodyPr>
          <a:lstStyle/>
          <a:p>
            <a:pPr eaLnBrk="1" hangingPunct="1">
              <a:defRPr/>
            </a:pPr>
            <a:r>
              <a:rPr lang="en-US" dirty="0"/>
              <a:t>Project Management Process Groups</a:t>
            </a:r>
          </a:p>
        </p:txBody>
      </p:sp>
      <p:sp>
        <p:nvSpPr>
          <p:cNvPr id="14339" name="Rectangle 3"/>
          <p:cNvSpPr>
            <a:spLocks noGrp="1" noChangeArrowheads="1"/>
          </p:cNvSpPr>
          <p:nvPr>
            <p:ph type="body" idx="1"/>
          </p:nvPr>
        </p:nvSpPr>
        <p:spPr>
          <a:xfrm>
            <a:off x="304800" y="1600200"/>
            <a:ext cx="8458200" cy="4648200"/>
          </a:xfrm>
        </p:spPr>
        <p:txBody>
          <a:bodyPr/>
          <a:lstStyle/>
          <a:p>
            <a:pPr eaLnBrk="1" hangingPunct="1"/>
            <a:r>
              <a:rPr lang="en-US" b="1" dirty="0"/>
              <a:t>Project management process groups </a:t>
            </a:r>
            <a:r>
              <a:rPr lang="en-US" dirty="0"/>
              <a:t>progress from initiating activities to planning activities, executing activities, monitoring and controlling activities, and closing activities</a:t>
            </a:r>
          </a:p>
          <a:p>
            <a:pPr eaLnBrk="1" hangingPunct="1"/>
            <a:r>
              <a:rPr lang="en-US" dirty="0"/>
              <a:t>A </a:t>
            </a:r>
            <a:r>
              <a:rPr lang="en-US" b="1" dirty="0"/>
              <a:t>process </a:t>
            </a:r>
            <a:r>
              <a:rPr lang="en-US" dirty="0"/>
              <a:t>is a series of actions directed toward a particular result</a:t>
            </a:r>
            <a:endParaRPr lang="en-US" sz="3200" dirty="0"/>
          </a:p>
          <a:p>
            <a:pPr eaLnBrk="1" hangingPunct="1"/>
            <a:endParaRPr lang="en-US" sz="3200" dirty="0"/>
          </a:p>
          <a:p>
            <a:pPr eaLnBrk="1" hangingPunct="1">
              <a:spcBef>
                <a:spcPct val="50000"/>
              </a:spcBef>
            </a:pPr>
            <a:endParaRPr lang="en-US" sz="3200" dirty="0"/>
          </a:p>
          <a:p>
            <a:pPr lvl="1" eaLnBrk="1" hangingPunct="1">
              <a:spcBef>
                <a:spcPct val="50000"/>
              </a:spcBef>
            </a:pPr>
            <a:endParaRPr lang="en-US" dirty="0"/>
          </a:p>
        </p:txBody>
      </p:sp>
      <p:sp>
        <p:nvSpPr>
          <p:cNvPr id="4" name="Slide Number Placeholder 3"/>
          <p:cNvSpPr>
            <a:spLocks noGrp="1"/>
          </p:cNvSpPr>
          <p:nvPr>
            <p:ph type="sldNum" sz="quarter" idx="4294967295"/>
          </p:nvPr>
        </p:nvSpPr>
        <p:spPr>
          <a:xfrm>
            <a:off x="8569325" y="6492875"/>
            <a:ext cx="555625" cy="365125"/>
          </a:xfrm>
          <a:prstGeom prst="rect">
            <a:avLst/>
          </a:prstGeom>
        </p:spPr>
        <p:txBody>
          <a:bodyPr/>
          <a:lstStyle/>
          <a:p>
            <a:pPr>
              <a:buNone/>
              <a:defRPr/>
            </a:pPr>
            <a:fld id="{201EA5DE-2BDB-45E3-8CE3-C2C6D6E7A7A1}" type="slidenum">
              <a:rPr lang="en-US" sz="1600" smtClean="0">
                <a:latin typeface="Arial Unicode MS" pitchFamily="34" charset="-128"/>
                <a:ea typeface="Arial Unicode MS" pitchFamily="34" charset="-128"/>
                <a:cs typeface="Arial Unicode MS" pitchFamily="34" charset="-128"/>
              </a:rPr>
              <a:pPr>
                <a:buNone/>
                <a:defRPr/>
              </a:pPr>
              <a:t>2</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612087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587375" y="0"/>
            <a:ext cx="8229600" cy="1143000"/>
          </a:xfrm>
        </p:spPr>
        <p:txBody>
          <a:bodyPr/>
          <a:lstStyle/>
          <a:p>
            <a:pPr eaLnBrk="1" hangingPunct="1">
              <a:defRPr/>
            </a:pPr>
            <a:r>
              <a:rPr lang="en-US" dirty="0"/>
              <a:t>Description of Process Groups</a:t>
            </a:r>
          </a:p>
        </p:txBody>
      </p:sp>
      <p:sp>
        <p:nvSpPr>
          <p:cNvPr id="15363" name="Rectangle 3"/>
          <p:cNvSpPr>
            <a:spLocks noGrp="1" noChangeArrowheads="1"/>
          </p:cNvSpPr>
          <p:nvPr>
            <p:ph type="body" idx="1"/>
          </p:nvPr>
        </p:nvSpPr>
        <p:spPr>
          <a:xfrm>
            <a:off x="152400" y="1096963"/>
            <a:ext cx="8991600" cy="5105400"/>
          </a:xfrm>
        </p:spPr>
        <p:txBody>
          <a:bodyPr/>
          <a:lstStyle/>
          <a:p>
            <a:pPr eaLnBrk="1" hangingPunct="1">
              <a:lnSpc>
                <a:spcPct val="80000"/>
              </a:lnSpc>
            </a:pPr>
            <a:r>
              <a:rPr lang="en-US" sz="2400" b="1" dirty="0"/>
              <a:t>Initiating processes </a:t>
            </a:r>
            <a:r>
              <a:rPr lang="en-US" sz="2400" dirty="0"/>
              <a:t>include actions to begin projects and project phases</a:t>
            </a:r>
          </a:p>
          <a:p>
            <a:pPr eaLnBrk="1" hangingPunct="1">
              <a:lnSpc>
                <a:spcPct val="80000"/>
              </a:lnSpc>
            </a:pPr>
            <a:r>
              <a:rPr lang="en-US" sz="2400" b="1" dirty="0"/>
              <a:t>Planning processes </a:t>
            </a:r>
            <a:r>
              <a:rPr lang="en-US" sz="2400" dirty="0"/>
              <a:t>include devising and maintaining a workable scheme to ensure that the project meets its scope, time, and cost goals as well as organizational needs</a:t>
            </a:r>
          </a:p>
          <a:p>
            <a:pPr eaLnBrk="1" hangingPunct="1">
              <a:lnSpc>
                <a:spcPct val="80000"/>
              </a:lnSpc>
            </a:pPr>
            <a:r>
              <a:rPr lang="en-US" sz="2400" b="1" dirty="0"/>
              <a:t>Executing processes </a:t>
            </a:r>
            <a:r>
              <a:rPr lang="en-US" sz="2400" dirty="0"/>
              <a:t>include coordinating people and other resources to carry out the project plans and produce the deliverables of the project or phase.</a:t>
            </a:r>
          </a:p>
          <a:p>
            <a:pPr lvl="1" eaLnBrk="1" hangingPunct="1">
              <a:lnSpc>
                <a:spcPct val="80000"/>
              </a:lnSpc>
            </a:pPr>
            <a:r>
              <a:rPr lang="en-US" sz="2200" dirty="0"/>
              <a:t>A </a:t>
            </a:r>
            <a:r>
              <a:rPr lang="en-US" sz="2200" b="1" dirty="0"/>
              <a:t>deliverable </a:t>
            </a:r>
            <a:r>
              <a:rPr lang="en-US" sz="2200" dirty="0"/>
              <a:t>is a product or service produced or provided as part of a project</a:t>
            </a:r>
          </a:p>
          <a:p>
            <a:pPr eaLnBrk="1" hangingPunct="1">
              <a:lnSpc>
                <a:spcPct val="80000"/>
              </a:lnSpc>
            </a:pPr>
            <a:r>
              <a:rPr lang="en-US" sz="2400" b="1" dirty="0"/>
              <a:t>Monitoring and controlling processes </a:t>
            </a:r>
            <a:r>
              <a:rPr lang="en-US" sz="2400" dirty="0"/>
              <a:t>measure progress toward achieving project goals, monitor deviation from plans, and take corrective action to match progress with plans and customer expectations</a:t>
            </a:r>
          </a:p>
          <a:p>
            <a:pPr eaLnBrk="1" hangingPunct="1">
              <a:lnSpc>
                <a:spcPct val="80000"/>
              </a:lnSpc>
            </a:pPr>
            <a:r>
              <a:rPr lang="en-US" sz="2400" b="1" dirty="0"/>
              <a:t>Closing processes </a:t>
            </a:r>
            <a:r>
              <a:rPr lang="en-US" sz="2400" dirty="0"/>
              <a:t>include formalizing acceptance of the project or phase and bringing it to an orderly end</a:t>
            </a:r>
          </a:p>
          <a:p>
            <a:pPr eaLnBrk="1" hangingPunct="1">
              <a:lnSpc>
                <a:spcPct val="80000"/>
              </a:lnSpc>
            </a:pPr>
            <a:endParaRPr lang="en-US" sz="2400" dirty="0"/>
          </a:p>
          <a:p>
            <a:pPr eaLnBrk="1" hangingPunct="1">
              <a:lnSpc>
                <a:spcPct val="80000"/>
              </a:lnSpc>
            </a:pPr>
            <a:endParaRPr lang="en-US" sz="2400"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668393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7D50B42D-15A3-498E-9545-76378AC2C625}" type="slidenum">
              <a:rPr lang="en-US" smtClean="0"/>
              <a:pPr>
                <a:defRPr/>
              </a:pPr>
              <a:t>4</a:t>
            </a:fld>
            <a:endParaRPr lang="en-US" dirty="0"/>
          </a:p>
        </p:txBody>
      </p:sp>
      <p:sp>
        <p:nvSpPr>
          <p:cNvPr id="4" name="Title 3"/>
          <p:cNvSpPr>
            <a:spLocks noGrp="1"/>
          </p:cNvSpPr>
          <p:nvPr>
            <p:ph type="title"/>
          </p:nvPr>
        </p:nvSpPr>
        <p:spPr/>
        <p:txBody>
          <a:bodyPr>
            <a:noAutofit/>
          </a:bodyPr>
          <a:lstStyle/>
          <a:p>
            <a:r>
              <a:rPr lang="en-US" sz="3200" dirty="0">
                <a:effectLst/>
              </a:rPr>
              <a:t>Figure 3-5. Example of process group interactions within a project or phase</a:t>
            </a:r>
            <a:endParaRPr lang="en-US" sz="3200" dirty="0"/>
          </a:p>
        </p:txBody>
      </p:sp>
      <p:sp>
        <p:nvSpPr>
          <p:cNvPr id="6" name="TextBox 5"/>
          <p:cNvSpPr txBox="1"/>
          <p:nvPr/>
        </p:nvSpPr>
        <p:spPr>
          <a:xfrm>
            <a:off x="1905000" y="5767496"/>
            <a:ext cx="6400800" cy="907941"/>
          </a:xfrm>
          <a:prstGeom prst="rect">
            <a:avLst/>
          </a:prstGeom>
          <a:noFill/>
        </p:spPr>
        <p:txBody>
          <a:bodyPr wrap="square" rtlCol="0">
            <a:spAutoFit/>
          </a:bodyPr>
          <a:lstStyle/>
          <a:p>
            <a:pPr>
              <a:buNone/>
            </a:pPr>
            <a:r>
              <a:rPr lang="en-US" sz="1600" dirty="0"/>
              <a:t>Source: Project Management Institute, Inc., </a:t>
            </a:r>
            <a:r>
              <a:rPr lang="en-US" sz="1600" i="1" dirty="0"/>
              <a:t>A Guide to the Project Management Body of Knowledge (PMBOK</a:t>
            </a:r>
            <a:r>
              <a:rPr lang="en-US" sz="1600" i="1" baseline="30000" dirty="0">
                <a:sym typeface="Symbol" panose="05050102010706020507" pitchFamily="18" charset="2"/>
              </a:rPr>
              <a:t></a:t>
            </a:r>
            <a:r>
              <a:rPr lang="en-US" sz="1600" i="1" dirty="0"/>
              <a:t> Guide)– Sixth Edition</a:t>
            </a:r>
            <a:r>
              <a:rPr lang="en-US" sz="1600" dirty="0"/>
              <a:t> (2017).</a:t>
            </a:r>
          </a:p>
          <a:p>
            <a:pPr>
              <a:buNone/>
            </a:pPr>
            <a:endParaRPr lang="en-US" dirty="0"/>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990600" y="1399165"/>
            <a:ext cx="6781800" cy="4367102"/>
          </a:xfrm>
          <a:prstGeom prst="rect">
            <a:avLst/>
          </a:prstGeom>
        </p:spPr>
      </p:pic>
    </p:spTree>
    <p:extLst>
      <p:ext uri="{BB962C8B-B14F-4D97-AF65-F5344CB8AC3E}">
        <p14:creationId xmlns:p14="http://schemas.microsoft.com/office/powerpoint/2010/main" val="190483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normAutofit fontScale="90000"/>
          </a:bodyPr>
          <a:lstStyle/>
          <a:p>
            <a:pPr eaLnBrk="1" hangingPunct="1">
              <a:defRPr/>
            </a:pPr>
            <a:r>
              <a:rPr lang="en-US" sz="4000" dirty="0"/>
              <a:t>Characteristics of the Process Groups</a:t>
            </a:r>
          </a:p>
        </p:txBody>
      </p:sp>
      <p:sp>
        <p:nvSpPr>
          <p:cNvPr id="16387" name="Rectangle 3"/>
          <p:cNvSpPr>
            <a:spLocks noGrp="1" noChangeArrowheads="1"/>
          </p:cNvSpPr>
          <p:nvPr>
            <p:ph type="body" idx="1"/>
          </p:nvPr>
        </p:nvSpPr>
        <p:spPr>
          <a:xfrm>
            <a:off x="457200" y="1481138"/>
            <a:ext cx="8458200" cy="4767262"/>
          </a:xfrm>
        </p:spPr>
        <p:txBody>
          <a:bodyPr/>
          <a:lstStyle/>
          <a:p>
            <a:pPr eaLnBrk="1" hangingPunct="1">
              <a:lnSpc>
                <a:spcPct val="80000"/>
              </a:lnSpc>
            </a:pPr>
            <a:r>
              <a:rPr lang="en-US" sz="2400" dirty="0"/>
              <a:t>The level of activity and length of each process group varies for every project</a:t>
            </a:r>
          </a:p>
          <a:p>
            <a:pPr lvl="1" eaLnBrk="1" hangingPunct="1">
              <a:lnSpc>
                <a:spcPct val="80000"/>
              </a:lnSpc>
            </a:pPr>
            <a:r>
              <a:rPr lang="en-US" sz="2200" dirty="0"/>
              <a:t>Normally, executing tasks require the most resources and time, followed by planning tasks</a:t>
            </a:r>
          </a:p>
          <a:p>
            <a:pPr lvl="1" eaLnBrk="1" hangingPunct="1">
              <a:lnSpc>
                <a:spcPct val="80000"/>
              </a:lnSpc>
            </a:pPr>
            <a:r>
              <a:rPr lang="en-US" sz="2200" dirty="0"/>
              <a:t>Monitoring and controlling processes are done throughout the project’s life span</a:t>
            </a:r>
          </a:p>
          <a:p>
            <a:pPr lvl="1" eaLnBrk="1" hangingPunct="1">
              <a:lnSpc>
                <a:spcPct val="80000"/>
              </a:lnSpc>
            </a:pPr>
            <a:r>
              <a:rPr lang="en-US" sz="2200" dirty="0"/>
              <a:t>Initiating and closing tasks are usually the shortest (at the beginning and end of a project or phase, respectively), and they require the least amount of resources and time</a:t>
            </a:r>
          </a:p>
          <a:p>
            <a:pPr lvl="1" eaLnBrk="1" hangingPunct="1">
              <a:lnSpc>
                <a:spcPct val="80000"/>
              </a:lnSpc>
            </a:pPr>
            <a:r>
              <a:rPr lang="en-US" sz="2200" dirty="0"/>
              <a:t>However, every project is unique, so there can be exceptions</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5</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581989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382000" cy="1143000"/>
          </a:xfrm>
        </p:spPr>
        <p:txBody>
          <a:bodyPr>
            <a:normAutofit fontScale="90000"/>
          </a:bodyPr>
          <a:lstStyle/>
          <a:p>
            <a:pPr>
              <a:defRPr/>
            </a:pPr>
            <a:r>
              <a:rPr lang="en-US" dirty="0">
                <a:effectLst/>
              </a:rPr>
              <a:t>Figure 3-6. Time Spent on Each Project Management Process Group</a:t>
            </a:r>
            <a:endParaRPr lang="en-US" dirty="0"/>
          </a:p>
        </p:txBody>
      </p:sp>
      <p:sp>
        <p:nvSpPr>
          <p:cNvPr id="6"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6</a:t>
            </a:fld>
            <a:endParaRPr lang="en-US" sz="1600" dirty="0">
              <a:latin typeface="Arial Unicode MS" pitchFamily="34" charset="-128"/>
              <a:ea typeface="Arial Unicode MS" pitchFamily="34" charset="-128"/>
              <a:cs typeface="Arial Unicode MS" pitchFamily="34" charset="-128"/>
            </a:endParaRPr>
          </a:p>
        </p:txBody>
      </p:sp>
      <p:graphicFrame>
        <p:nvGraphicFramePr>
          <p:cNvPr id="4" name="Table 3"/>
          <p:cNvGraphicFramePr>
            <a:graphicFrameLocks noGrp="1"/>
          </p:cNvGraphicFramePr>
          <p:nvPr>
            <p:extLst>
              <p:ext uri="{D42A27DB-BD31-4B8C-83A1-F6EECF244321}">
                <p14:modId xmlns:p14="http://schemas.microsoft.com/office/powerpoint/2010/main" val="4109429507"/>
              </p:ext>
            </p:extLst>
          </p:nvPr>
        </p:nvGraphicFramePr>
        <p:xfrm>
          <a:off x="533400" y="1752598"/>
          <a:ext cx="7696201" cy="3048003"/>
        </p:xfrm>
        <a:graphic>
          <a:graphicData uri="http://schemas.openxmlformats.org/drawingml/2006/table">
            <a:tbl>
              <a:tblPr firstRow="1" firstCol="1" bandRow="1">
                <a:tableStyleId>{5C22544A-7EE6-4342-B048-85BDC9FD1C3A}</a:tableStyleId>
              </a:tblPr>
              <a:tblGrid>
                <a:gridCol w="2610773">
                  <a:extLst>
                    <a:ext uri="{9D8B030D-6E8A-4147-A177-3AD203B41FA5}">
                      <a16:colId xmlns:a16="http://schemas.microsoft.com/office/drawing/2014/main" val="20000"/>
                    </a:ext>
                  </a:extLst>
                </a:gridCol>
                <a:gridCol w="1004143">
                  <a:extLst>
                    <a:ext uri="{9D8B030D-6E8A-4147-A177-3AD203B41FA5}">
                      <a16:colId xmlns:a16="http://schemas.microsoft.com/office/drawing/2014/main" val="20001"/>
                    </a:ext>
                  </a:extLst>
                </a:gridCol>
                <a:gridCol w="165126">
                  <a:extLst>
                    <a:ext uri="{9D8B030D-6E8A-4147-A177-3AD203B41FA5}">
                      <a16:colId xmlns:a16="http://schemas.microsoft.com/office/drawing/2014/main" val="20002"/>
                    </a:ext>
                  </a:extLst>
                </a:gridCol>
                <a:gridCol w="1707044">
                  <a:extLst>
                    <a:ext uri="{9D8B030D-6E8A-4147-A177-3AD203B41FA5}">
                      <a16:colId xmlns:a16="http://schemas.microsoft.com/office/drawing/2014/main" val="20003"/>
                    </a:ext>
                  </a:extLst>
                </a:gridCol>
                <a:gridCol w="2209115">
                  <a:extLst>
                    <a:ext uri="{9D8B030D-6E8A-4147-A177-3AD203B41FA5}">
                      <a16:colId xmlns:a16="http://schemas.microsoft.com/office/drawing/2014/main" val="20004"/>
                    </a:ext>
                  </a:extLst>
                </a:gridCol>
              </a:tblGrid>
              <a:tr h="435429">
                <a:tc>
                  <a:txBody>
                    <a:bodyPr/>
                    <a:lstStyle/>
                    <a:p>
                      <a:pPr marL="0" marR="0">
                        <a:spcBef>
                          <a:spcPts val="0"/>
                        </a:spcBef>
                        <a:spcAft>
                          <a:spcPts val="0"/>
                        </a:spcAft>
                      </a:pPr>
                      <a:r>
                        <a:rPr lang="en-US" sz="1800" dirty="0">
                          <a:effectLst/>
                        </a:rPr>
                        <a:t>Process Group</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Alpha PM</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Average PM</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Alpha Difference (%)</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35429">
                <a:tc>
                  <a:txBody>
                    <a:bodyPr/>
                    <a:lstStyle/>
                    <a:p>
                      <a:pPr marL="0" marR="0">
                        <a:spcBef>
                          <a:spcPts val="0"/>
                        </a:spcBef>
                        <a:spcAft>
                          <a:spcPts val="0"/>
                        </a:spcAft>
                      </a:pPr>
                      <a:r>
                        <a:rPr lang="en-US" sz="1800" dirty="0">
                          <a:effectLst/>
                        </a:rPr>
                        <a:t>Initiating</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2%</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1%</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100% more</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35429">
                <a:tc>
                  <a:txBody>
                    <a:bodyPr/>
                    <a:lstStyle/>
                    <a:p>
                      <a:pPr marL="0" marR="0">
                        <a:spcBef>
                          <a:spcPts val="0"/>
                        </a:spcBef>
                        <a:spcAft>
                          <a:spcPts val="0"/>
                        </a:spcAft>
                      </a:pPr>
                      <a:r>
                        <a:rPr lang="en-US" sz="1800" dirty="0">
                          <a:effectLst/>
                        </a:rPr>
                        <a:t>Planning</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21%</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11%</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91% more</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35429">
                <a:tc>
                  <a:txBody>
                    <a:bodyPr/>
                    <a:lstStyle/>
                    <a:p>
                      <a:pPr marL="0" marR="0">
                        <a:spcBef>
                          <a:spcPts val="0"/>
                        </a:spcBef>
                        <a:spcAft>
                          <a:spcPts val="0"/>
                        </a:spcAft>
                      </a:pPr>
                      <a:r>
                        <a:rPr lang="en-US" sz="1800" dirty="0">
                          <a:effectLst/>
                        </a:rPr>
                        <a:t>Executing</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69%</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82%</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16% less</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35429">
                <a:tc>
                  <a:txBody>
                    <a:bodyPr/>
                    <a:lstStyle/>
                    <a:p>
                      <a:pPr marL="0" marR="0">
                        <a:spcBef>
                          <a:spcPts val="0"/>
                        </a:spcBef>
                        <a:spcAft>
                          <a:spcPts val="0"/>
                        </a:spcAft>
                      </a:pPr>
                      <a:r>
                        <a:rPr lang="en-US" sz="1800" dirty="0">
                          <a:effectLst/>
                        </a:rPr>
                        <a:t>Monitoring &amp; Controlling</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5%</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4%</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25% more</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35429">
                <a:tc>
                  <a:txBody>
                    <a:bodyPr/>
                    <a:lstStyle/>
                    <a:p>
                      <a:pPr marL="0" marR="0">
                        <a:spcBef>
                          <a:spcPts val="0"/>
                        </a:spcBef>
                        <a:spcAft>
                          <a:spcPts val="0"/>
                        </a:spcAft>
                      </a:pPr>
                      <a:r>
                        <a:rPr lang="en-US" sz="1800" dirty="0">
                          <a:effectLst/>
                        </a:rPr>
                        <a:t>Closing</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3%</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2%</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50% more</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35429">
                <a:tc>
                  <a:txBody>
                    <a:bodyPr/>
                    <a:lstStyle/>
                    <a:p>
                      <a:pPr marL="0" marR="0">
                        <a:spcBef>
                          <a:spcPts val="0"/>
                        </a:spcBef>
                        <a:spcAft>
                          <a:spcPts val="0"/>
                        </a:spcAft>
                      </a:pPr>
                      <a:r>
                        <a:rPr lang="en-US" sz="1800" dirty="0">
                          <a:effectLst/>
                        </a:rPr>
                        <a:t>Total</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rPr>
                        <a:t>100%</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1800" dirty="0">
                          <a:effectLst/>
                        </a:rPr>
                        <a:t>100%</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1800" dirty="0">
                          <a:effectLst/>
                        </a:rPr>
                        <a:t> </a:t>
                      </a:r>
                      <a:endParaRPr lang="en-US" sz="2800" dirty="0">
                        <a:effectLst/>
                        <a:latin typeface="New York"/>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83499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lIns="92075" tIns="46038" rIns="92075" bIns="46038">
            <a:normAutofit fontScale="90000"/>
          </a:bodyPr>
          <a:lstStyle/>
          <a:p>
            <a:pPr eaLnBrk="1" hangingPunct="1">
              <a:defRPr/>
            </a:pPr>
            <a:r>
              <a:rPr lang="en-US" sz="4000" dirty="0"/>
              <a:t>Mapping the Process Groups to the Knowledge Areas</a:t>
            </a:r>
          </a:p>
        </p:txBody>
      </p:sp>
      <p:sp>
        <p:nvSpPr>
          <p:cNvPr id="18435" name="Rectangle 3"/>
          <p:cNvSpPr>
            <a:spLocks noGrp="1" noChangeArrowheads="1"/>
          </p:cNvSpPr>
          <p:nvPr>
            <p:ph type="body" idx="1"/>
          </p:nvPr>
        </p:nvSpPr>
        <p:spPr>
          <a:xfrm>
            <a:off x="407987" y="1447800"/>
            <a:ext cx="8458200" cy="5334000"/>
          </a:xfrm>
        </p:spPr>
        <p:txBody>
          <a:bodyPr/>
          <a:lstStyle/>
          <a:p>
            <a:pPr eaLnBrk="1" hangingPunct="1"/>
            <a:r>
              <a:rPr lang="en-US" dirty="0"/>
              <a:t>You can map the five process group into the ten project management knowledge areas</a:t>
            </a:r>
          </a:p>
          <a:p>
            <a:pPr eaLnBrk="1" hangingPunct="1"/>
            <a:r>
              <a:rPr lang="en-US" dirty="0"/>
              <a:t>Based on the </a:t>
            </a:r>
            <a:r>
              <a:rPr lang="en-US" i="1" dirty="0"/>
              <a:t>PMBOK</a:t>
            </a:r>
            <a:r>
              <a:rPr lang="en-US" i="1" baseline="30000" dirty="0"/>
              <a:t>®</a:t>
            </a:r>
            <a:r>
              <a:rPr lang="en-US" i="1" dirty="0"/>
              <a:t> Guide – Sixth Edition </a:t>
            </a:r>
            <a:r>
              <a:rPr lang="en-US" dirty="0"/>
              <a:t>(2017), there are 49 total processes in project management</a:t>
            </a:r>
          </a:p>
          <a:p>
            <a:pPr eaLnBrk="1" hangingPunct="1"/>
            <a:r>
              <a:rPr lang="en-US" dirty="0"/>
              <a:t>Figure 3-7 provides a big-picture view of the process groups and knowledge areas</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7</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58633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380999" y="0"/>
            <a:ext cx="8207375" cy="990600"/>
          </a:xfrm>
        </p:spPr>
        <p:txBody>
          <a:bodyPr>
            <a:noAutofit/>
          </a:bodyPr>
          <a:lstStyle/>
          <a:p>
            <a:r>
              <a:rPr lang="en-US" sz="3200" dirty="0">
                <a:effectLst/>
              </a:rPr>
              <a:t>Figure 3-7. Project management process group and knowledge area mapping</a:t>
            </a:r>
          </a:p>
        </p:txBody>
      </p:sp>
      <p:sp>
        <p:nvSpPr>
          <p:cNvPr id="4"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8</a:t>
            </a:fld>
            <a:endParaRPr lang="en-US" sz="1600" dirty="0">
              <a:latin typeface="Arial Unicode MS" pitchFamily="34" charset="-128"/>
              <a:ea typeface="Arial Unicode MS" pitchFamily="34" charset="-128"/>
              <a:cs typeface="Arial Unicode MS" pitchFamily="34" charset="-128"/>
            </a:endParaRPr>
          </a:p>
        </p:txBody>
      </p:sp>
      <p:sp>
        <p:nvSpPr>
          <p:cNvPr id="8" name="TextBox 7"/>
          <p:cNvSpPr txBox="1"/>
          <p:nvPr/>
        </p:nvSpPr>
        <p:spPr>
          <a:xfrm>
            <a:off x="5943599" y="4648200"/>
            <a:ext cx="3048001" cy="1572738"/>
          </a:xfrm>
          <a:prstGeom prst="rect">
            <a:avLst/>
          </a:prstGeom>
          <a:noFill/>
        </p:spPr>
        <p:txBody>
          <a:bodyPr wrap="square" rtlCol="0">
            <a:spAutoFit/>
          </a:bodyPr>
          <a:lstStyle/>
          <a:p>
            <a:pPr>
              <a:buNone/>
            </a:pPr>
            <a:r>
              <a:rPr lang="en-US" sz="1600" dirty="0"/>
              <a:t>Source: Project Management Institute, Inc., </a:t>
            </a:r>
            <a:r>
              <a:rPr lang="en-US" sz="1600" i="1" dirty="0"/>
              <a:t>A Guide to the Project Management Body of Knowledge (PMBOK</a:t>
            </a:r>
            <a:r>
              <a:rPr lang="en-US" sz="1600" i="1" baseline="30000" dirty="0">
                <a:sym typeface="Symbol" panose="05050102010706020507" pitchFamily="18" charset="2"/>
              </a:rPr>
              <a:t></a:t>
            </a:r>
            <a:r>
              <a:rPr lang="en-US" sz="1600" i="1" dirty="0"/>
              <a:t> Guide) – Sixth Edition</a:t>
            </a:r>
            <a:r>
              <a:rPr lang="en-US" sz="1600" dirty="0"/>
              <a:t> (2017).</a:t>
            </a:r>
          </a:p>
          <a:p>
            <a:pPr>
              <a:buNone/>
            </a:pPr>
            <a:endParaRPr lang="en-US" dirty="0"/>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447800" y="914400"/>
            <a:ext cx="4315460" cy="5706745"/>
          </a:xfrm>
          <a:prstGeom prst="rect">
            <a:avLst/>
          </a:prstGeom>
        </p:spPr>
      </p:pic>
    </p:spTree>
    <p:extLst>
      <p:ext uri="{BB962C8B-B14F-4D97-AF65-F5344CB8AC3E}">
        <p14:creationId xmlns:p14="http://schemas.microsoft.com/office/powerpoint/2010/main" val="1239854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457200" y="0"/>
            <a:ext cx="8229600" cy="1143000"/>
          </a:xfrm>
        </p:spPr>
        <p:txBody>
          <a:bodyPr>
            <a:normAutofit fontScale="90000"/>
          </a:bodyPr>
          <a:lstStyle/>
          <a:p>
            <a:pPr eaLnBrk="1" hangingPunct="1">
              <a:defRPr/>
            </a:pPr>
            <a:r>
              <a:rPr lang="en-US" dirty="0"/>
              <a:t>Developing a Project Management Methodology</a:t>
            </a:r>
          </a:p>
        </p:txBody>
      </p:sp>
      <p:sp>
        <p:nvSpPr>
          <p:cNvPr id="22531" name="Rectangle 3"/>
          <p:cNvSpPr>
            <a:spLocks noGrp="1" noChangeArrowheads="1"/>
          </p:cNvSpPr>
          <p:nvPr>
            <p:ph type="body" idx="1"/>
          </p:nvPr>
        </p:nvSpPr>
        <p:spPr>
          <a:xfrm>
            <a:off x="533400" y="1371600"/>
            <a:ext cx="8229600" cy="4491038"/>
          </a:xfrm>
        </p:spPr>
        <p:txBody>
          <a:bodyPr/>
          <a:lstStyle/>
          <a:p>
            <a:pPr eaLnBrk="1" hangingPunct="1"/>
            <a:r>
              <a:rPr lang="en-US" dirty="0"/>
              <a:t>The </a:t>
            </a:r>
            <a:r>
              <a:rPr lang="en-US" i="1" dirty="0"/>
              <a:t>PMBOK® Guide </a:t>
            </a:r>
            <a:r>
              <a:rPr lang="en-US" dirty="0"/>
              <a:t>is a </a:t>
            </a:r>
            <a:r>
              <a:rPr lang="en-US" b="1" dirty="0"/>
              <a:t>standard </a:t>
            </a:r>
            <a:r>
              <a:rPr lang="en-US" dirty="0"/>
              <a:t>that describes best practices for what should be done to manage a project</a:t>
            </a:r>
          </a:p>
          <a:p>
            <a:pPr eaLnBrk="1" hangingPunct="1"/>
            <a:r>
              <a:rPr lang="en-US" dirty="0"/>
              <a:t>A </a:t>
            </a:r>
            <a:r>
              <a:rPr lang="en-US" b="1" dirty="0"/>
              <a:t>methodology </a:t>
            </a:r>
            <a:r>
              <a:rPr lang="en-US" dirty="0"/>
              <a:t>describes </a:t>
            </a:r>
            <a:r>
              <a:rPr lang="en-US" i="1" dirty="0"/>
              <a:t>how </a:t>
            </a:r>
            <a:r>
              <a:rPr lang="en-US" dirty="0"/>
              <a:t>things should be done, and different organizations often have different ways of doing things</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9</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28468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p:cNvSpPr>
            <a:spLocks noGrp="1"/>
          </p:cNvSpPr>
          <p:nvPr>
            <p:ph idx="1"/>
          </p:nvPr>
        </p:nvSpPr>
        <p:spPr>
          <a:xfrm>
            <a:off x="357116" y="914400"/>
            <a:ext cx="8482084" cy="4525963"/>
          </a:xfrm>
        </p:spPr>
        <p:txBody>
          <a:bodyPr>
            <a:noAutofit/>
          </a:bodyPr>
          <a:lstStyle/>
          <a:p>
            <a:r>
              <a:rPr lang="en-US" sz="2000" b="1" i="1" dirty="0"/>
              <a:t>PRojects IN Controlled Environments (PRINCE2): </a:t>
            </a:r>
            <a:r>
              <a:rPr lang="en-US" sz="2000" dirty="0"/>
              <a:t>Originally developed for</a:t>
            </a:r>
            <a:r>
              <a:rPr lang="en-US" sz="2000" b="1" dirty="0"/>
              <a:t> </a:t>
            </a:r>
            <a:r>
              <a:rPr lang="en-US" sz="2000" dirty="0"/>
              <a:t>IT projects, PRINCE2 was released in 1996 by the U.K. Office of Government Commerce – now used in over 50 countries</a:t>
            </a:r>
          </a:p>
          <a:p>
            <a:r>
              <a:rPr lang="en-US" sz="2000" b="1" i="1" dirty="0"/>
              <a:t>Rational Unified Process (RUP) framework:  </a:t>
            </a:r>
            <a:r>
              <a:rPr lang="en-US" sz="2000" dirty="0"/>
              <a:t>iterative software development process that focuses on team productivity and delivers software best practices to all team members</a:t>
            </a:r>
          </a:p>
          <a:p>
            <a:r>
              <a:rPr lang="en-US" sz="2000" b="1" i="1" dirty="0"/>
              <a:t>Six Sigma: </a:t>
            </a:r>
            <a:r>
              <a:rPr lang="en-US" sz="2000" dirty="0"/>
              <a:t>Used to improve quality and processes. Six Sigma’s target for perfection is the achievement of no more than 3.4 defects, errors, or mistakes per million opportunities</a:t>
            </a:r>
          </a:p>
          <a:p>
            <a:r>
              <a:rPr lang="en-US" sz="2000" b="1" i="1" dirty="0"/>
              <a:t>Agile: </a:t>
            </a:r>
            <a:r>
              <a:rPr lang="en-US" sz="2000" dirty="0"/>
              <a:t>Many software development projects use agile methods, meaning they use an iterative workflow and incremental delivery of software in short iterations</a:t>
            </a:r>
          </a:p>
          <a:p>
            <a:endParaRPr lang="en-US" sz="2400" dirty="0"/>
          </a:p>
        </p:txBody>
      </p:sp>
      <p:sp>
        <p:nvSpPr>
          <p:cNvPr id="3" name="Title 2"/>
          <p:cNvSpPr>
            <a:spLocks noGrp="1"/>
          </p:cNvSpPr>
          <p:nvPr>
            <p:ph type="title"/>
          </p:nvPr>
        </p:nvSpPr>
        <p:spPr>
          <a:xfrm>
            <a:off x="457200" y="152400"/>
            <a:ext cx="8229600" cy="563562"/>
          </a:xfrm>
        </p:spPr>
        <p:txBody>
          <a:bodyPr>
            <a:normAutofit fontScale="90000"/>
          </a:bodyPr>
          <a:lstStyle/>
          <a:p>
            <a:pPr>
              <a:defRPr/>
            </a:pPr>
            <a:r>
              <a:rPr lang="en-US" dirty="0"/>
              <a:t>Some Examples of Methodologies</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10</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448529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normAutofit fontScale="90000"/>
          </a:bodyPr>
          <a:lstStyle/>
          <a:p>
            <a:pPr eaLnBrk="1" hangingPunct="1">
              <a:defRPr/>
            </a:pPr>
            <a:r>
              <a:rPr lang="en-US" sz="4000" dirty="0"/>
              <a:t>The Importance of Top Management Commitment</a:t>
            </a:r>
          </a:p>
        </p:txBody>
      </p:sp>
      <p:sp>
        <p:nvSpPr>
          <p:cNvPr id="25603" name="Rectangle 3"/>
          <p:cNvSpPr>
            <a:spLocks noGrp="1" noChangeArrowheads="1"/>
          </p:cNvSpPr>
          <p:nvPr>
            <p:ph type="body" idx="1"/>
          </p:nvPr>
        </p:nvSpPr>
        <p:spPr>
          <a:xfrm>
            <a:off x="533400" y="1676400"/>
            <a:ext cx="8001000" cy="4495800"/>
          </a:xfrm>
        </p:spPr>
        <p:txBody>
          <a:bodyPr/>
          <a:lstStyle/>
          <a:p>
            <a:pPr eaLnBrk="1" hangingPunct="1"/>
            <a:r>
              <a:rPr lang="en-US" dirty="0"/>
              <a:t>Without top management commitment, many projects will fail</a:t>
            </a:r>
          </a:p>
          <a:p>
            <a:pPr eaLnBrk="1" hangingPunct="1"/>
            <a:r>
              <a:rPr lang="en-US" dirty="0"/>
              <a:t>Some projects have a senior manager called a </a:t>
            </a:r>
            <a:r>
              <a:rPr lang="en-US" b="1" dirty="0"/>
              <a:t>champion </a:t>
            </a:r>
            <a:r>
              <a:rPr lang="en-US" dirty="0"/>
              <a:t>who acts as a key proponent for a project</a:t>
            </a:r>
          </a:p>
          <a:p>
            <a:pPr eaLnBrk="1" hangingPunct="1"/>
            <a:r>
              <a:rPr lang="en-US" dirty="0"/>
              <a:t>Projects are part of the larger organizational environment, and many factors that might affect a project are out of the project manager’s control</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11</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215094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fontScale="90000"/>
          </a:bodyPr>
          <a:lstStyle/>
          <a:p>
            <a:pPr eaLnBrk="1" hangingPunct="1">
              <a:defRPr/>
            </a:pPr>
            <a:r>
              <a:rPr lang="en-US" sz="4000" dirty="0"/>
              <a:t>How Top Managers Can Help Project Managers Succeed</a:t>
            </a:r>
          </a:p>
        </p:txBody>
      </p:sp>
      <p:sp>
        <p:nvSpPr>
          <p:cNvPr id="26627" name="Rectangle 3"/>
          <p:cNvSpPr>
            <a:spLocks noGrp="1" noChangeArrowheads="1"/>
          </p:cNvSpPr>
          <p:nvPr>
            <p:ph type="body" idx="1"/>
          </p:nvPr>
        </p:nvSpPr>
        <p:spPr/>
        <p:txBody>
          <a:bodyPr/>
          <a:lstStyle/>
          <a:p>
            <a:pPr eaLnBrk="1" hangingPunct="1"/>
            <a:r>
              <a:rPr lang="en-US" dirty="0"/>
              <a:t>Provide adequate resources</a:t>
            </a:r>
          </a:p>
          <a:p>
            <a:pPr eaLnBrk="1" hangingPunct="1"/>
            <a:r>
              <a:rPr lang="en-US" dirty="0"/>
              <a:t>Approve unique project needs in a timely manner</a:t>
            </a:r>
          </a:p>
          <a:p>
            <a:pPr eaLnBrk="1" hangingPunct="1"/>
            <a:r>
              <a:rPr lang="en-US" dirty="0"/>
              <a:t>Encourage cooperation from people in other parts of the organization and deal with political issues</a:t>
            </a:r>
          </a:p>
          <a:p>
            <a:pPr eaLnBrk="1" hangingPunct="1"/>
            <a:r>
              <a:rPr lang="en-US" dirty="0"/>
              <a:t>Mentor and coach them on leadership issues</a:t>
            </a:r>
          </a:p>
          <a:p>
            <a:pPr eaLnBrk="1" hangingPunct="1"/>
            <a:r>
              <a:rPr lang="en-US" dirty="0"/>
              <a:t>Develop and enforce organizational standards</a:t>
            </a:r>
          </a:p>
          <a:p>
            <a:pPr eaLnBrk="1" hangingPunct="1"/>
            <a:r>
              <a:rPr lang="en-US" dirty="0"/>
              <a:t>Support a </a:t>
            </a:r>
            <a:r>
              <a:rPr lang="en-US" b="1" dirty="0"/>
              <a:t>project management office (PMO)</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12</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714669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normAutofit/>
          </a:bodyPr>
          <a:lstStyle/>
          <a:p>
            <a:pPr eaLnBrk="1" hangingPunct="1">
              <a:defRPr/>
            </a:pPr>
            <a:r>
              <a:rPr lang="en-US" dirty="0"/>
              <a:t>Project Management Office (PMO)</a:t>
            </a:r>
          </a:p>
        </p:txBody>
      </p:sp>
      <p:sp>
        <p:nvSpPr>
          <p:cNvPr id="27651" name="Rectangle 3"/>
          <p:cNvSpPr>
            <a:spLocks noGrp="1" noChangeArrowheads="1"/>
          </p:cNvSpPr>
          <p:nvPr>
            <p:ph type="body" idx="1"/>
          </p:nvPr>
        </p:nvSpPr>
        <p:spPr/>
        <p:txBody>
          <a:bodyPr>
            <a:normAutofit/>
          </a:bodyPr>
          <a:lstStyle/>
          <a:p>
            <a:pPr eaLnBrk="1" hangingPunct="1"/>
            <a:r>
              <a:rPr lang="en-US" dirty="0"/>
              <a:t>A </a:t>
            </a:r>
            <a:r>
              <a:rPr lang="en-US" b="1" dirty="0"/>
              <a:t>project management office (PMO) </a:t>
            </a:r>
            <a:r>
              <a:rPr lang="en-US" dirty="0"/>
              <a:t>is an organizational entity created to assist project managers in achieving project goals</a:t>
            </a:r>
          </a:p>
          <a:p>
            <a:r>
              <a:rPr lang="en-US" dirty="0"/>
              <a:t>A PMO can help development standards and methodologies, provide career paths for project managers, and assist project managers with training and certification</a:t>
            </a:r>
          </a:p>
          <a:p>
            <a:pPr eaLnBrk="1" hangingPunct="1"/>
            <a:endParaRPr lang="en-US"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13</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455199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274638"/>
            <a:ext cx="8839200" cy="1143000"/>
          </a:xfrm>
        </p:spPr>
        <p:txBody>
          <a:bodyPr>
            <a:normAutofit fontScale="90000"/>
          </a:bodyPr>
          <a:lstStyle/>
          <a:p>
            <a:r>
              <a:rPr lang="en-US" dirty="0">
                <a:effectLst/>
              </a:rPr>
              <a:t>Figure 3-8 Percentage of Organizations with PMOs</a:t>
            </a:r>
          </a:p>
        </p:txBody>
      </p:sp>
      <p:sp>
        <p:nvSpPr>
          <p:cNvPr id="5" name="TextBox 4"/>
          <p:cNvSpPr txBox="1"/>
          <p:nvPr/>
        </p:nvSpPr>
        <p:spPr>
          <a:xfrm>
            <a:off x="1371600" y="5715000"/>
            <a:ext cx="7467600" cy="741742"/>
          </a:xfrm>
          <a:prstGeom prst="rect">
            <a:avLst/>
          </a:prstGeom>
          <a:noFill/>
        </p:spPr>
        <p:txBody>
          <a:bodyPr wrap="square" rtlCol="0">
            <a:spAutoFit/>
          </a:bodyPr>
          <a:lstStyle/>
          <a:p>
            <a:pPr>
              <a:buNone/>
            </a:pPr>
            <a:r>
              <a:rPr lang="en-US" sz="2000" dirty="0"/>
              <a:t>Source: PM Solutions, “The State of Project Management 2020,” 2020.</a:t>
            </a:r>
          </a:p>
          <a:p>
            <a:pPr>
              <a:buNone/>
            </a:pPr>
            <a:endParaRPr lang="en-US" dirty="0"/>
          </a:p>
        </p:txBody>
      </p:sp>
      <p:pic>
        <p:nvPicPr>
          <p:cNvPr id="6" name="Picture 5">
            <a:extLst>
              <a:ext uri="{FF2B5EF4-FFF2-40B4-BE49-F238E27FC236}">
                <a16:creationId xmlns:a16="http://schemas.microsoft.com/office/drawing/2014/main" id="{59B6B5A4-5BA2-49B8-9B75-611E0829203E}"/>
              </a:ext>
            </a:extLst>
          </p:cNvPr>
          <p:cNvPicPr/>
          <p:nvPr/>
        </p:nvPicPr>
        <p:blipFill rotWithShape="1">
          <a:blip r:embed="rId2">
            <a:extLst>
              <a:ext uri="{28A0092B-C50C-407E-A947-70E740481C1C}">
                <a14:useLocalDpi xmlns:a14="http://schemas.microsoft.com/office/drawing/2010/main" val="0"/>
              </a:ext>
            </a:extLst>
          </a:blip>
          <a:srcRect t="3974"/>
          <a:stretch/>
        </p:blipFill>
        <p:spPr bwMode="auto">
          <a:xfrm>
            <a:off x="1066800" y="1524000"/>
            <a:ext cx="6400799" cy="41910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25743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Collect, organize, and integrate project data for the entire organization</a:t>
            </a:r>
          </a:p>
          <a:p>
            <a:r>
              <a:rPr lang="en-US" dirty="0"/>
              <a:t>Research, develop, and share best practices in project management</a:t>
            </a:r>
          </a:p>
          <a:p>
            <a:r>
              <a:rPr lang="en-US" dirty="0"/>
              <a:t>Develop and maintain templates, tools, standards, and methodologies</a:t>
            </a:r>
          </a:p>
          <a:p>
            <a:r>
              <a:rPr lang="en-US" dirty="0"/>
              <a:t>Develop or coordinate training in various project management topics</a:t>
            </a:r>
          </a:p>
          <a:p>
            <a:r>
              <a:rPr lang="en-US" dirty="0"/>
              <a:t>Develop and provide a formal career path for project managers</a:t>
            </a:r>
          </a:p>
          <a:p>
            <a:r>
              <a:rPr lang="en-US" dirty="0"/>
              <a:t>Provide project management consulting services</a:t>
            </a:r>
          </a:p>
          <a:p>
            <a:r>
              <a:rPr lang="en-US" dirty="0"/>
              <a:t>Provide a structure to house project managers while they are acting in those roles or are between projects</a:t>
            </a:r>
          </a:p>
        </p:txBody>
      </p:sp>
      <p:sp>
        <p:nvSpPr>
          <p:cNvPr id="3" name="Slide Number Placeholder 2"/>
          <p:cNvSpPr>
            <a:spLocks noGrp="1"/>
          </p:cNvSpPr>
          <p:nvPr>
            <p:ph type="sldNum" sz="quarter" idx="12"/>
          </p:nvPr>
        </p:nvSpPr>
        <p:spPr/>
        <p:txBody>
          <a:bodyPr/>
          <a:lstStyle/>
          <a:p>
            <a:pPr>
              <a:defRPr/>
            </a:pPr>
            <a:fld id="{7D50B42D-15A3-498E-9545-76378AC2C625}" type="slidenum">
              <a:rPr lang="en-US" smtClean="0"/>
              <a:pPr>
                <a:defRPr/>
              </a:pPr>
              <a:t>15</a:t>
            </a:fld>
            <a:endParaRPr lang="en-US" dirty="0"/>
          </a:p>
        </p:txBody>
      </p:sp>
      <p:sp>
        <p:nvSpPr>
          <p:cNvPr id="4" name="Title 3"/>
          <p:cNvSpPr>
            <a:spLocks noGrp="1"/>
          </p:cNvSpPr>
          <p:nvPr>
            <p:ph type="title"/>
          </p:nvPr>
        </p:nvSpPr>
        <p:spPr/>
        <p:txBody>
          <a:bodyPr/>
          <a:lstStyle/>
          <a:p>
            <a:r>
              <a:rPr lang="en-US" dirty="0"/>
              <a:t>Possible Goals of a PMO</a:t>
            </a:r>
          </a:p>
        </p:txBody>
      </p:sp>
    </p:spTree>
    <p:extLst>
      <p:ext uri="{BB962C8B-B14F-4D97-AF65-F5344CB8AC3E}">
        <p14:creationId xmlns:p14="http://schemas.microsoft.com/office/powerpoint/2010/main" val="405969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152400" y="0"/>
            <a:ext cx="8991600" cy="762000"/>
          </a:xfrm>
        </p:spPr>
        <p:txBody>
          <a:bodyPr/>
          <a:lstStyle/>
          <a:p>
            <a:pPr eaLnBrk="1" hangingPunct="1">
              <a:defRPr/>
            </a:pPr>
            <a:r>
              <a:rPr lang="en-US" sz="3600" dirty="0"/>
              <a:t>Figure 3-9. Initiating Process Summary</a:t>
            </a:r>
          </a:p>
        </p:txBody>
      </p:sp>
      <p:pic>
        <p:nvPicPr>
          <p:cNvPr id="30726" name="Picture 1" descr="fig3-2.jpg"/>
          <p:cNvPicPr>
            <a:picLocks noChangeAspect="1" noChangeArrowheads="1"/>
          </p:cNvPicPr>
          <p:nvPr/>
        </p:nvPicPr>
        <p:blipFill>
          <a:blip r:embed="rId2"/>
          <a:srcRect b="34270"/>
          <a:stretch>
            <a:fillRect/>
          </a:stretch>
        </p:blipFill>
        <p:spPr bwMode="auto">
          <a:xfrm>
            <a:off x="1371600" y="685800"/>
            <a:ext cx="5334000" cy="2635139"/>
          </a:xfrm>
          <a:prstGeom prst="rect">
            <a:avLst/>
          </a:prstGeom>
          <a:noFill/>
          <a:ln w="9525">
            <a:noFill/>
            <a:miter lim="800000"/>
            <a:headEnd/>
            <a:tailEnd/>
          </a:ln>
        </p:spPr>
      </p:pic>
      <p:graphicFrame>
        <p:nvGraphicFramePr>
          <p:cNvPr id="7" name="Table 6"/>
          <p:cNvGraphicFramePr>
            <a:graphicFrameLocks noGrp="1"/>
          </p:cNvGraphicFramePr>
          <p:nvPr>
            <p:extLst>
              <p:ext uri="{D42A27DB-BD31-4B8C-83A1-F6EECF244321}">
                <p14:modId xmlns:p14="http://schemas.microsoft.com/office/powerpoint/2010/main" val="1514033088"/>
              </p:ext>
            </p:extLst>
          </p:nvPr>
        </p:nvGraphicFramePr>
        <p:xfrm>
          <a:off x="1143000" y="3276600"/>
          <a:ext cx="5715000" cy="3200400"/>
        </p:xfrm>
        <a:graphic>
          <a:graphicData uri="http://schemas.openxmlformats.org/drawingml/2006/table">
            <a:tbl>
              <a:tblPr/>
              <a:tblGrid>
                <a:gridCol w="3292182">
                  <a:extLst>
                    <a:ext uri="{9D8B030D-6E8A-4147-A177-3AD203B41FA5}">
                      <a16:colId xmlns:a16="http://schemas.microsoft.com/office/drawing/2014/main" val="20000"/>
                    </a:ext>
                  </a:extLst>
                </a:gridCol>
                <a:gridCol w="2422818">
                  <a:extLst>
                    <a:ext uri="{9D8B030D-6E8A-4147-A177-3AD203B41FA5}">
                      <a16:colId xmlns:a16="http://schemas.microsoft.com/office/drawing/2014/main" val="20001"/>
                    </a:ext>
                  </a:extLst>
                </a:gridCol>
              </a:tblGrid>
              <a:tr h="3200400">
                <a:tc>
                  <a:txBody>
                    <a:bodyPr/>
                    <a:lstStyle/>
                    <a:p>
                      <a:pPr marL="0" marR="0">
                        <a:lnSpc>
                          <a:spcPct val="150000"/>
                        </a:lnSpc>
                        <a:spcBef>
                          <a:spcPts val="600"/>
                        </a:spcBef>
                        <a:spcAft>
                          <a:spcPts val="0"/>
                        </a:spcAft>
                      </a:pPr>
                      <a:r>
                        <a:rPr lang="en-US" sz="1200" b="1" kern="800" dirty="0">
                          <a:latin typeface="Times New Roman"/>
                          <a:ea typeface="Times New Roman"/>
                        </a:rPr>
                        <a:t>Senior management work together to</a:t>
                      </a:r>
                      <a:r>
                        <a:rPr lang="en-US" sz="1200" b="1" kern="800" dirty="0">
                          <a:latin typeface="New York"/>
                          <a:ea typeface="Times New Roman"/>
                        </a:rPr>
                        <a:t>:</a:t>
                      </a:r>
                      <a:endParaRPr lang="en-US" sz="1200" kern="800" dirty="0">
                        <a:latin typeface="Times New Roman"/>
                        <a:ea typeface="Times New Roman"/>
                      </a:endParaRPr>
                    </a:p>
                    <a:p>
                      <a:pPr marL="342900" marR="0" lvl="0" indent="-342900">
                        <a:lnSpc>
                          <a:spcPct val="150000"/>
                        </a:lnSpc>
                        <a:spcBef>
                          <a:spcPts val="600"/>
                        </a:spcBef>
                        <a:spcAft>
                          <a:spcPts val="0"/>
                        </a:spcAft>
                        <a:buFont typeface="Symbol"/>
                        <a:buChar char=""/>
                      </a:pPr>
                      <a:r>
                        <a:rPr lang="en-US" sz="1200" b="1" kern="800" dirty="0">
                          <a:latin typeface="Times New Roman"/>
                          <a:ea typeface="Times New Roman"/>
                        </a:rPr>
                        <a:t>Determine scope, time, and cost constraints</a:t>
                      </a:r>
                      <a:endParaRPr lang="en-US" sz="1200" kern="800" dirty="0">
                        <a:latin typeface="Times New Roman"/>
                        <a:ea typeface="Times New Roman"/>
                      </a:endParaRPr>
                    </a:p>
                    <a:p>
                      <a:pPr marL="342900" marR="0" lvl="0" indent="-342900">
                        <a:lnSpc>
                          <a:spcPct val="150000"/>
                        </a:lnSpc>
                        <a:spcBef>
                          <a:spcPts val="600"/>
                        </a:spcBef>
                        <a:spcAft>
                          <a:spcPts val="0"/>
                        </a:spcAft>
                        <a:buFont typeface="Symbol"/>
                        <a:buChar char=""/>
                      </a:pPr>
                      <a:r>
                        <a:rPr lang="en-US" sz="1200" b="1" kern="800" dirty="0">
                          <a:latin typeface="Times New Roman"/>
                          <a:ea typeface="Times New Roman"/>
                        </a:rPr>
                        <a:t>Identify the project sponsor</a:t>
                      </a:r>
                      <a:endParaRPr lang="en-US" sz="1200" kern="800" dirty="0">
                        <a:latin typeface="Times New Roman"/>
                        <a:ea typeface="Times New Roman"/>
                      </a:endParaRPr>
                    </a:p>
                    <a:p>
                      <a:pPr marL="342900" marR="0" lvl="0" indent="-342900">
                        <a:lnSpc>
                          <a:spcPct val="150000"/>
                        </a:lnSpc>
                        <a:spcBef>
                          <a:spcPts val="600"/>
                        </a:spcBef>
                        <a:spcAft>
                          <a:spcPts val="0"/>
                        </a:spcAft>
                        <a:buFont typeface="Symbol"/>
                        <a:buChar char=""/>
                      </a:pPr>
                      <a:r>
                        <a:rPr lang="en-US" sz="1200" b="1" kern="800" dirty="0">
                          <a:latin typeface="Times New Roman"/>
                          <a:ea typeface="Times New Roman"/>
                        </a:rPr>
                        <a:t>Select the project manager</a:t>
                      </a:r>
                      <a:endParaRPr lang="en-US" sz="1200" kern="800" dirty="0">
                        <a:latin typeface="Times New Roman"/>
                        <a:ea typeface="Times New Roman"/>
                      </a:endParaRPr>
                    </a:p>
                    <a:p>
                      <a:pPr marL="342900" marR="0" lvl="0" indent="-342900">
                        <a:lnSpc>
                          <a:spcPct val="150000"/>
                        </a:lnSpc>
                        <a:spcBef>
                          <a:spcPts val="600"/>
                        </a:spcBef>
                        <a:spcAft>
                          <a:spcPts val="0"/>
                        </a:spcAft>
                        <a:buFont typeface="Symbol"/>
                        <a:buChar char=""/>
                      </a:pPr>
                      <a:r>
                        <a:rPr lang="en-US" sz="1200" b="1" kern="800" dirty="0">
                          <a:latin typeface="Times New Roman"/>
                          <a:ea typeface="Times New Roman"/>
                        </a:rPr>
                        <a:t>Develop a business case for the project</a:t>
                      </a:r>
                      <a:endParaRPr lang="en-US" sz="1200" kern="800" dirty="0">
                        <a:latin typeface="Times New Roman"/>
                        <a:ea typeface="Times New Roman"/>
                      </a:endParaRPr>
                    </a:p>
                    <a:p>
                      <a:pPr marL="342900" marR="0" lvl="0" indent="-342900">
                        <a:lnSpc>
                          <a:spcPct val="150000"/>
                        </a:lnSpc>
                        <a:spcBef>
                          <a:spcPts val="600"/>
                        </a:spcBef>
                        <a:spcAft>
                          <a:spcPts val="0"/>
                        </a:spcAft>
                        <a:buFont typeface="Symbol"/>
                        <a:buChar char=""/>
                      </a:pPr>
                      <a:r>
                        <a:rPr lang="en-US" sz="1200" b="1" kern="800" dirty="0">
                          <a:latin typeface="Times New Roman"/>
                          <a:ea typeface="Times New Roman"/>
                        </a:rPr>
                        <a:t>Review processes/expectations</a:t>
                      </a:r>
                      <a:endParaRPr lang="en-US" sz="1200" kern="800" dirty="0">
                        <a:latin typeface="Times New Roman"/>
                        <a:ea typeface="Times New Roman"/>
                      </a:endParaRPr>
                    </a:p>
                    <a:p>
                      <a:pPr marL="342900" marR="0" lvl="0" indent="-342900">
                        <a:lnSpc>
                          <a:spcPct val="150000"/>
                        </a:lnSpc>
                        <a:spcBef>
                          <a:spcPts val="600"/>
                        </a:spcBef>
                        <a:spcAft>
                          <a:spcPts val="0"/>
                        </a:spcAft>
                        <a:buFont typeface="Symbol"/>
                        <a:buChar char=""/>
                      </a:pPr>
                      <a:r>
                        <a:rPr lang="en-US" sz="1200" b="1" kern="800" dirty="0">
                          <a:latin typeface="Times New Roman"/>
                          <a:ea typeface="Times New Roman"/>
                        </a:rPr>
                        <a:t>Determine if the project should be divided into two or more smaller projects</a:t>
                      </a:r>
                      <a:endParaRPr lang="en-US" sz="1200" kern="800" dirty="0">
                        <a:latin typeface="Times New Roman"/>
                        <a:ea typeface="Times New Roman"/>
                      </a:endParaRPr>
                    </a:p>
                  </a:txBody>
                  <a:tcPr marL="68580" marR="68580" marT="0" marB="0">
                    <a:lnL>
                      <a:noFill/>
                    </a:lnL>
                    <a:lnR>
                      <a:noFill/>
                    </a:lnR>
                    <a:lnT>
                      <a:noFill/>
                    </a:lnT>
                    <a:lnB>
                      <a:noFill/>
                    </a:lnB>
                  </a:tcPr>
                </a:tc>
                <a:tc>
                  <a:txBody>
                    <a:bodyPr/>
                    <a:lstStyle/>
                    <a:p>
                      <a:pPr marL="0" marR="0">
                        <a:lnSpc>
                          <a:spcPct val="150000"/>
                        </a:lnSpc>
                        <a:spcBef>
                          <a:spcPts val="600"/>
                        </a:spcBef>
                        <a:spcAft>
                          <a:spcPts val="0"/>
                        </a:spcAft>
                      </a:pPr>
                      <a:r>
                        <a:rPr lang="en-US" sz="1200" b="1" kern="800" dirty="0">
                          <a:latin typeface="Times New Roman" pitchFamily="18" charset="0"/>
                          <a:ea typeface="Times New Roman"/>
                          <a:cs typeface="Times New Roman" pitchFamily="18" charset="0"/>
                        </a:rPr>
                        <a:t>Project managers lead efforts to:</a:t>
                      </a:r>
                      <a:endParaRPr lang="en-US" sz="1200" kern="800" dirty="0">
                        <a:latin typeface="Times New Roman" pitchFamily="18" charset="0"/>
                        <a:ea typeface="Times New Roman"/>
                        <a:cs typeface="Times New Roman" pitchFamily="18" charset="0"/>
                      </a:endParaRPr>
                    </a:p>
                    <a:p>
                      <a:pPr marL="342900" marR="0" lvl="0" indent="-342900">
                        <a:lnSpc>
                          <a:spcPct val="150000"/>
                        </a:lnSpc>
                        <a:spcBef>
                          <a:spcPts val="600"/>
                        </a:spcBef>
                        <a:spcAft>
                          <a:spcPts val="0"/>
                        </a:spcAft>
                        <a:buFont typeface="Symbol"/>
                        <a:buChar char=""/>
                      </a:pPr>
                      <a:r>
                        <a:rPr lang="en-US" sz="1200" b="1" kern="800" dirty="0">
                          <a:latin typeface="Times New Roman" pitchFamily="18" charset="0"/>
                          <a:ea typeface="Times New Roman"/>
                          <a:cs typeface="Times New Roman" pitchFamily="18" charset="0"/>
                        </a:rPr>
                        <a:t>Identify and understand project stakeholders</a:t>
                      </a:r>
                      <a:endParaRPr lang="en-US" sz="1200" kern="800" dirty="0">
                        <a:latin typeface="Times New Roman" pitchFamily="18" charset="0"/>
                        <a:ea typeface="Times New Roman"/>
                        <a:cs typeface="Times New Roman" pitchFamily="18" charset="0"/>
                      </a:endParaRPr>
                    </a:p>
                    <a:p>
                      <a:pPr marL="342900" marR="0" lvl="0" indent="-342900">
                        <a:lnSpc>
                          <a:spcPct val="150000"/>
                        </a:lnSpc>
                        <a:spcBef>
                          <a:spcPts val="600"/>
                        </a:spcBef>
                        <a:spcAft>
                          <a:spcPts val="0"/>
                        </a:spcAft>
                        <a:buFont typeface="Symbol"/>
                        <a:buChar char=""/>
                      </a:pPr>
                      <a:r>
                        <a:rPr lang="en-US" sz="1200" b="1" kern="800" dirty="0">
                          <a:latin typeface="Times New Roman" pitchFamily="18" charset="0"/>
                          <a:ea typeface="Times New Roman"/>
                          <a:cs typeface="Times New Roman" pitchFamily="18" charset="0"/>
                        </a:rPr>
                        <a:t>Create the project charter and assumption log</a:t>
                      </a:r>
                      <a:endParaRPr lang="en-US" sz="1200" kern="800" dirty="0">
                        <a:latin typeface="Times New Roman" pitchFamily="18" charset="0"/>
                        <a:ea typeface="Times New Roman"/>
                        <a:cs typeface="Times New Roman" pitchFamily="18" charset="0"/>
                      </a:endParaRPr>
                    </a:p>
                    <a:p>
                      <a:pPr marL="342900" marR="0" lvl="0" indent="-342900">
                        <a:lnSpc>
                          <a:spcPct val="150000"/>
                        </a:lnSpc>
                        <a:spcBef>
                          <a:spcPts val="600"/>
                        </a:spcBef>
                        <a:spcAft>
                          <a:spcPts val="0"/>
                        </a:spcAft>
                        <a:buFont typeface="Symbol"/>
                        <a:buChar char=""/>
                      </a:pPr>
                      <a:r>
                        <a:rPr lang="en-US" sz="1200" b="1" kern="800" dirty="0">
                          <a:latin typeface="Times New Roman" pitchFamily="18" charset="0"/>
                          <a:ea typeface="Times New Roman"/>
                          <a:cs typeface="Times New Roman" pitchFamily="18" charset="0"/>
                        </a:rPr>
                        <a:t>Hold a kick-off meeting</a:t>
                      </a:r>
                      <a:endParaRPr lang="en-US" sz="1200" kern="800" dirty="0">
                        <a:latin typeface="Times New Roman" pitchFamily="18" charset="0"/>
                        <a:ea typeface="Times New Roman"/>
                        <a:cs typeface="Times New Roman"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6"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16</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1160847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1D95D5-A3DE-491B-9C08-6B9C7F1ACD1E}"/>
              </a:ext>
            </a:extLst>
          </p:cNvPr>
          <p:cNvSpPr>
            <a:spLocks noGrp="1"/>
          </p:cNvSpPr>
          <p:nvPr>
            <p:ph idx="1"/>
          </p:nvPr>
        </p:nvSpPr>
        <p:spPr/>
        <p:txBody>
          <a:bodyPr>
            <a:normAutofit fontScale="92500" lnSpcReduction="10000"/>
          </a:bodyPr>
          <a:lstStyle/>
          <a:p>
            <a:r>
              <a:rPr lang="en-AU" dirty="0"/>
              <a:t>The senior managers of the Global Construction decided to divide the project to two phases.  </a:t>
            </a:r>
          </a:p>
          <a:p>
            <a:r>
              <a:rPr lang="en-AU" dirty="0"/>
              <a:t>Phase 1 is to clarify the situation.</a:t>
            </a:r>
          </a:p>
          <a:p>
            <a:r>
              <a:rPr lang="en-AU" dirty="0"/>
              <a:t>Note: for a large training project, there is often a study project done first before investing in a large project. </a:t>
            </a:r>
          </a:p>
          <a:p>
            <a:r>
              <a:rPr lang="en-AU" dirty="0"/>
              <a:t>In Just-In-Time Training project:</a:t>
            </a:r>
          </a:p>
          <a:p>
            <a:r>
              <a:rPr lang="en-AU" dirty="0"/>
              <a:t>Lucy, training director would be the sponsor</a:t>
            </a:r>
          </a:p>
          <a:p>
            <a:r>
              <a:rPr lang="en-AU" dirty="0"/>
              <a:t>Mike, the vice president of HR would be the project champion. </a:t>
            </a:r>
          </a:p>
          <a:p>
            <a:r>
              <a:rPr lang="en-AU" dirty="0"/>
              <a:t>Lucy, assigned one of her senior staff member, Ron to manage the project (phase 1).</a:t>
            </a:r>
          </a:p>
        </p:txBody>
      </p:sp>
      <p:sp>
        <p:nvSpPr>
          <p:cNvPr id="3" name="Slide Number Placeholder 2">
            <a:extLst>
              <a:ext uri="{FF2B5EF4-FFF2-40B4-BE49-F238E27FC236}">
                <a16:creationId xmlns:a16="http://schemas.microsoft.com/office/drawing/2014/main" id="{5AA3A659-A273-4464-AC1B-8E62F8DAB15F}"/>
              </a:ext>
            </a:extLst>
          </p:cNvPr>
          <p:cNvSpPr>
            <a:spLocks noGrp="1"/>
          </p:cNvSpPr>
          <p:nvPr>
            <p:ph type="sldNum" sz="quarter" idx="12"/>
          </p:nvPr>
        </p:nvSpPr>
        <p:spPr/>
        <p:txBody>
          <a:bodyPr/>
          <a:lstStyle/>
          <a:p>
            <a:pPr>
              <a:defRPr/>
            </a:pPr>
            <a:fld id="{7D50B42D-15A3-498E-9545-76378AC2C625}" type="slidenum">
              <a:rPr lang="en-US" smtClean="0"/>
              <a:pPr>
                <a:defRPr/>
              </a:pPr>
              <a:t>17</a:t>
            </a:fld>
            <a:endParaRPr lang="en-US" dirty="0"/>
          </a:p>
        </p:txBody>
      </p:sp>
      <p:sp>
        <p:nvSpPr>
          <p:cNvPr id="4" name="Title 3">
            <a:extLst>
              <a:ext uri="{FF2B5EF4-FFF2-40B4-BE49-F238E27FC236}">
                <a16:creationId xmlns:a16="http://schemas.microsoft.com/office/drawing/2014/main" id="{673E1D03-DA09-4D04-84A7-DBF6C1043F13}"/>
              </a:ext>
            </a:extLst>
          </p:cNvPr>
          <p:cNvSpPr>
            <a:spLocks noGrp="1"/>
          </p:cNvSpPr>
          <p:nvPr>
            <p:ph type="title"/>
          </p:nvPr>
        </p:nvSpPr>
        <p:spPr/>
        <p:txBody>
          <a:bodyPr>
            <a:normAutofit fontScale="90000"/>
          </a:bodyPr>
          <a:lstStyle/>
          <a:p>
            <a:r>
              <a:rPr lang="en-AU" dirty="0"/>
              <a:t>Example: Just-In-Time Training Project</a:t>
            </a:r>
          </a:p>
        </p:txBody>
      </p:sp>
    </p:spTree>
    <p:extLst>
      <p:ext uri="{BB962C8B-B14F-4D97-AF65-F5344CB8AC3E}">
        <p14:creationId xmlns:p14="http://schemas.microsoft.com/office/powerpoint/2010/main" val="3664462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defRPr/>
            </a:pPr>
            <a:r>
              <a:rPr lang="en-US" sz="3200" dirty="0"/>
              <a:t>Figure 3-10. Summary Information for the Just-In-Time Training Phase I Project</a:t>
            </a:r>
          </a:p>
        </p:txBody>
      </p:sp>
      <p:sp>
        <p:nvSpPr>
          <p:cNvPr id="31750" name="Rectangle 6"/>
          <p:cNvSpPr>
            <a:spLocks noChangeArrowheads="1"/>
          </p:cNvSpPr>
          <p:nvPr/>
        </p:nvSpPr>
        <p:spPr bwMode="auto">
          <a:xfrm>
            <a:off x="152400" y="1600200"/>
            <a:ext cx="8610600" cy="4370427"/>
          </a:xfrm>
          <a:prstGeom prst="rect">
            <a:avLst/>
          </a:prstGeom>
          <a:noFill/>
          <a:ln w="9525" cap="flat" cmpd="sng" algn="ctr">
            <a:noFill/>
            <a:prstDash val="solid"/>
            <a:miter lim="800000"/>
            <a:headEnd/>
            <a:tailEnd/>
          </a:ln>
          <a:effectLst/>
        </p:spPr>
        <p:txBody>
          <a:bodyPr vert="horz" wrap="square" lIns="228528"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ct val="20000"/>
              </a:spcBef>
              <a:spcAft>
                <a:spcPct val="0"/>
              </a:spcAft>
              <a:buClrTx/>
              <a:buSzTx/>
              <a:buNone/>
              <a:tabLst/>
            </a:pPr>
            <a:r>
              <a:rPr kumimoji="0" lang="en-US"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Scope Goals</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Investigate and document the training taken in the last two years by all internal employees.</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Determine what courses were taken, the cost of all training, the process for approving/assigning training, and the evaluation of the training by participants, if available.</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Survey employees to get their input on what training they believe they’ll need in the next two years, how they’d like to take the training (i.e., instructor-led in-house, instructor-led through a local college, university, or training company, Web-based, DVD, etc.). Also hold focus groups to determine training needs.</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Recommend how to provide the most valuable training for Global Construction employees in the next two years.</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Determine the scope, time, and cost goals for the development and implementation of the Just-In-Time Training Phase II project.</a:t>
            </a:r>
            <a:endParaRPr kumimoji="0" lang="en-US" sz="4000" b="0" i="0" u="none" strike="noStrike" cap="none" normalizeH="0" baseline="0" dirty="0">
              <a:ln>
                <a:noFill/>
              </a:ln>
              <a:solidFill>
                <a:schemeClr val="tx1"/>
              </a:solidFill>
              <a:effectLst/>
              <a:latin typeface="Times New Roman" pitchFamily="18" charset="0"/>
            </a:endParaRP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18</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1810549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normAutofit fontScale="90000"/>
          </a:bodyPr>
          <a:lstStyle/>
          <a:p>
            <a:pPr eaLnBrk="1" hangingPunct="1">
              <a:defRPr/>
            </a:pPr>
            <a:r>
              <a:rPr lang="en-US" sz="3200" dirty="0"/>
              <a:t>Figure 3-11. Summary Information for the Just-In-Time Training Phase I Project (continued)</a:t>
            </a:r>
          </a:p>
        </p:txBody>
      </p:sp>
      <p:sp>
        <p:nvSpPr>
          <p:cNvPr id="32774" name="Rectangle 6"/>
          <p:cNvSpPr>
            <a:spLocks noChangeArrowheads="1"/>
          </p:cNvSpPr>
          <p:nvPr/>
        </p:nvSpPr>
        <p:spPr bwMode="auto">
          <a:xfrm>
            <a:off x="304800" y="1600200"/>
            <a:ext cx="8458200" cy="4370427"/>
          </a:xfrm>
          <a:prstGeom prst="rect">
            <a:avLst/>
          </a:prstGeom>
          <a:noFill/>
          <a:ln w="9525" cap="flat" cmpd="sng" algn="ctr">
            <a:noFill/>
            <a:prstDash val="solid"/>
            <a:miter lim="800000"/>
            <a:headEnd/>
            <a:tailEnd/>
          </a:ln>
          <a:effectLst/>
        </p:spPr>
        <p:txBody>
          <a:bodyPr vert="horz" wrap="square" lIns="228528"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ct val="20000"/>
              </a:spcBef>
              <a:spcAft>
                <a:spcPct val="0"/>
              </a:spcAft>
              <a:buClrTx/>
              <a:buSzTx/>
              <a:buNone/>
              <a:tabLst/>
            </a:pPr>
            <a:r>
              <a:rPr kumimoji="0" lang="en-US"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Time Goals</a:t>
            </a: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Three months</a:t>
            </a:r>
            <a:endParaRPr kumimoji="0" lang="en-US" sz="14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Cost Goals</a:t>
            </a: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50,000</a:t>
            </a:r>
            <a:endParaRPr kumimoji="0" lang="en-US" sz="14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Approach/Assumptions</a:t>
            </a: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All of the costs would be for internal labor.</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All managers and employees would receive information about this study project. </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lang="en-US" sz="2000" dirty="0"/>
              <a:t>A response rate of 30% would be acceptable for the survey.</a:t>
            </a: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project team would do extensive research to back up their recommendations.</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team would also provide detailed monthly reports and presentations to a steering committee.</a:t>
            </a:r>
            <a:endParaRPr kumimoji="0" lang="en-US" sz="1400" b="0" i="0" u="none" strike="noStrike" cap="none" normalizeH="0" baseline="0" dirty="0">
              <a:ln>
                <a:noFill/>
              </a:ln>
              <a:solidFill>
                <a:schemeClr val="tx1"/>
              </a:solidFill>
              <a:effectLst/>
              <a:latin typeface="Times New Roman" pitchFamily="18" charset="0"/>
            </a:endParaRPr>
          </a:p>
          <a:p>
            <a:pPr eaLnBrk="0" hangingPunct="0">
              <a:lnSpc>
                <a:spcPct val="100000"/>
              </a:lnSpc>
              <a:spcBef>
                <a:spcPct val="0"/>
              </a:spcBef>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final deliverables would include a one-hour final presentation and a comprehensive project report documenting all of the information and recommendations.</a:t>
            </a:r>
            <a:endParaRPr kumimoji="0" lang="en-US" sz="4000" b="0" i="0" u="none" strike="noStrike" cap="none" normalizeH="0" baseline="0" dirty="0">
              <a:ln>
                <a:noFill/>
              </a:ln>
              <a:solidFill>
                <a:schemeClr val="tx1"/>
              </a:solidFill>
              <a:effectLst/>
              <a:latin typeface="Times New Roman" pitchFamily="18" charset="0"/>
            </a:endParaRP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19</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768368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457200" y="0"/>
            <a:ext cx="8229600" cy="1143000"/>
          </a:xfrm>
        </p:spPr>
        <p:txBody>
          <a:bodyPr/>
          <a:lstStyle/>
          <a:p>
            <a:pPr eaLnBrk="1" hangingPunct="1">
              <a:defRPr/>
            </a:pPr>
            <a:r>
              <a:rPr lang="en-US" dirty="0"/>
              <a:t>Business Case for a Project</a:t>
            </a:r>
          </a:p>
        </p:txBody>
      </p:sp>
      <p:sp>
        <p:nvSpPr>
          <p:cNvPr id="38915" name="Rectangle 3"/>
          <p:cNvSpPr>
            <a:spLocks noGrp="1" noChangeArrowheads="1"/>
          </p:cNvSpPr>
          <p:nvPr>
            <p:ph type="body" idx="1"/>
          </p:nvPr>
        </p:nvSpPr>
        <p:spPr>
          <a:xfrm>
            <a:off x="457200" y="1156349"/>
            <a:ext cx="8229600" cy="4525962"/>
          </a:xfrm>
        </p:spPr>
        <p:txBody>
          <a:bodyPr>
            <a:normAutofit fontScale="85000" lnSpcReduction="20000"/>
          </a:bodyPr>
          <a:lstStyle/>
          <a:p>
            <a:r>
              <a:rPr lang="en-US" sz="2800" dirty="0"/>
              <a:t>A </a:t>
            </a:r>
            <a:r>
              <a:rPr lang="en-US" sz="2800" b="1" dirty="0"/>
              <a:t>business case </a:t>
            </a:r>
            <a:r>
              <a:rPr lang="en-US" sz="2800" dirty="0"/>
              <a:t>is a document that provides financial justification for investing in a project</a:t>
            </a:r>
          </a:p>
          <a:p>
            <a:r>
              <a:rPr lang="en-US" sz="2800" dirty="0"/>
              <a:t>Typical contents:</a:t>
            </a:r>
          </a:p>
          <a:p>
            <a:pPr lvl="1"/>
            <a:r>
              <a:rPr lang="en-US" sz="2400" dirty="0"/>
              <a:t>Introduction/Background</a:t>
            </a:r>
            <a:endParaRPr lang="en-US" sz="2800" dirty="0"/>
          </a:p>
          <a:p>
            <a:pPr lvl="1"/>
            <a:r>
              <a:rPr lang="en-US" sz="2400" dirty="0"/>
              <a:t>Business Objective</a:t>
            </a:r>
            <a:endParaRPr lang="en-US" sz="2800" dirty="0"/>
          </a:p>
          <a:p>
            <a:pPr lvl="1"/>
            <a:r>
              <a:rPr lang="en-US" sz="2400" dirty="0"/>
              <a:t>Current Situation and Problem/Opportunity Statement</a:t>
            </a:r>
            <a:endParaRPr lang="en-US" sz="2800" dirty="0"/>
          </a:p>
          <a:p>
            <a:pPr lvl="1"/>
            <a:r>
              <a:rPr lang="en-US" sz="2400" dirty="0"/>
              <a:t>Critical Assumptions and Constraints</a:t>
            </a:r>
            <a:endParaRPr lang="en-US" sz="2800" dirty="0"/>
          </a:p>
          <a:p>
            <a:pPr lvl="1"/>
            <a:r>
              <a:rPr lang="en-US" sz="2400" dirty="0"/>
              <a:t>Analysis of Options and Recommendations</a:t>
            </a:r>
            <a:endParaRPr lang="en-US" sz="2800" dirty="0"/>
          </a:p>
          <a:p>
            <a:pPr lvl="1"/>
            <a:r>
              <a:rPr lang="en-US" sz="2400" dirty="0"/>
              <a:t>Preliminary Project Requirements</a:t>
            </a:r>
            <a:endParaRPr lang="en-US" sz="2800" dirty="0"/>
          </a:p>
          <a:p>
            <a:pPr lvl="1"/>
            <a:r>
              <a:rPr lang="en-US" sz="2400" dirty="0"/>
              <a:t>Budget Estimate and Financial Analysis</a:t>
            </a:r>
            <a:endParaRPr lang="en-US" sz="2800" dirty="0"/>
          </a:p>
          <a:p>
            <a:pPr lvl="1"/>
            <a:r>
              <a:rPr lang="en-US" sz="2400" dirty="0"/>
              <a:t>Schedule Estimate</a:t>
            </a:r>
            <a:endParaRPr lang="en-US" sz="2800" dirty="0"/>
          </a:p>
          <a:p>
            <a:pPr lvl="1"/>
            <a:r>
              <a:rPr lang="en-US" sz="2400" dirty="0"/>
              <a:t>Potential Risks</a:t>
            </a:r>
            <a:endParaRPr lang="en-US" sz="2800" dirty="0"/>
          </a:p>
          <a:p>
            <a:pPr lvl="1"/>
            <a:r>
              <a:rPr lang="en-US" sz="2400" dirty="0"/>
              <a:t>Exhibits</a:t>
            </a:r>
            <a:endParaRPr lang="en-US" sz="2800" dirty="0"/>
          </a:p>
          <a:p>
            <a:br>
              <a:rPr lang="en-US" sz="1200" dirty="0"/>
            </a:br>
            <a:r>
              <a:rPr lang="en-US" sz="2800" dirty="0"/>
              <a:t>See Figure 3-11 in the text for a sample</a:t>
            </a:r>
            <a:endParaRPr lang="en-US" sz="2400"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20</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403661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679DAB-67DA-42CC-BAE8-4E8AEF13D4FD}"/>
              </a:ext>
            </a:extLst>
          </p:cNvPr>
          <p:cNvSpPr>
            <a:spLocks noGrp="1"/>
          </p:cNvSpPr>
          <p:nvPr>
            <p:ph idx="1"/>
          </p:nvPr>
        </p:nvSpPr>
        <p:spPr/>
        <p:txBody>
          <a:bodyPr>
            <a:normAutofit fontScale="92500" lnSpcReduction="10000"/>
          </a:bodyPr>
          <a:lstStyle/>
          <a:p>
            <a:pPr marL="624078" indent="-514350">
              <a:buAutoNum type="arabicParenR"/>
            </a:pPr>
            <a:r>
              <a:rPr lang="en-AU" dirty="0"/>
              <a:t>The best or “alpha” project managers spend more time on every process group than other project managers except for which one?</a:t>
            </a:r>
          </a:p>
          <a:p>
            <a:pPr marL="624078" indent="-514350">
              <a:buAutoNum type="arabicParenR"/>
            </a:pPr>
            <a:r>
              <a:rPr lang="en-AU" dirty="0"/>
              <a:t>What document provides justification for investing a project?</a:t>
            </a:r>
          </a:p>
          <a:p>
            <a:pPr marL="624078" indent="-514350">
              <a:buAutoNum type="alphaLcParenR"/>
            </a:pPr>
            <a:r>
              <a:rPr lang="en-AU" dirty="0"/>
              <a:t>Project charter</a:t>
            </a:r>
          </a:p>
          <a:p>
            <a:pPr marL="624078" indent="-514350">
              <a:buAutoNum type="alphaLcParenR"/>
            </a:pPr>
            <a:r>
              <a:rPr lang="en-AU" dirty="0"/>
              <a:t>Business case</a:t>
            </a:r>
          </a:p>
          <a:p>
            <a:pPr marL="624078" indent="-514350">
              <a:buAutoNum type="alphaLcParenR"/>
            </a:pPr>
            <a:r>
              <a:rPr lang="en-AU" dirty="0"/>
              <a:t>NPV analysis</a:t>
            </a:r>
          </a:p>
          <a:p>
            <a:pPr marL="624078" indent="-514350">
              <a:buAutoNum type="alphaLcParenR"/>
            </a:pPr>
            <a:r>
              <a:rPr lang="en-AU" dirty="0"/>
              <a:t>Benefits management plan </a:t>
            </a:r>
          </a:p>
          <a:p>
            <a:pPr marL="109728" indent="0">
              <a:buNone/>
            </a:pPr>
            <a:r>
              <a:rPr lang="en-AU" dirty="0"/>
              <a:t>3) In which of the five project management process groups is the most time and money usually spent?</a:t>
            </a:r>
          </a:p>
          <a:p>
            <a:pPr marL="624078" indent="-514350">
              <a:buAutoNum type="alphaLcParenR"/>
            </a:pPr>
            <a:endParaRPr lang="en-AU" dirty="0"/>
          </a:p>
          <a:p>
            <a:endParaRPr lang="en-AU" dirty="0"/>
          </a:p>
        </p:txBody>
      </p:sp>
      <p:sp>
        <p:nvSpPr>
          <p:cNvPr id="3" name="Slide Number Placeholder 2">
            <a:extLst>
              <a:ext uri="{FF2B5EF4-FFF2-40B4-BE49-F238E27FC236}">
                <a16:creationId xmlns:a16="http://schemas.microsoft.com/office/drawing/2014/main" id="{38FE4F96-92A4-4858-90C6-FB397C950357}"/>
              </a:ext>
            </a:extLst>
          </p:cNvPr>
          <p:cNvSpPr>
            <a:spLocks noGrp="1"/>
          </p:cNvSpPr>
          <p:nvPr>
            <p:ph type="sldNum" sz="quarter" idx="12"/>
          </p:nvPr>
        </p:nvSpPr>
        <p:spPr/>
        <p:txBody>
          <a:bodyPr/>
          <a:lstStyle/>
          <a:p>
            <a:pPr>
              <a:defRPr/>
            </a:pPr>
            <a:fld id="{7D50B42D-15A3-498E-9545-76378AC2C625}" type="slidenum">
              <a:rPr lang="en-US" smtClean="0"/>
              <a:pPr>
                <a:defRPr/>
              </a:pPr>
              <a:t>21</a:t>
            </a:fld>
            <a:endParaRPr lang="en-US" dirty="0"/>
          </a:p>
        </p:txBody>
      </p:sp>
      <p:sp>
        <p:nvSpPr>
          <p:cNvPr id="4" name="Title 3">
            <a:extLst>
              <a:ext uri="{FF2B5EF4-FFF2-40B4-BE49-F238E27FC236}">
                <a16:creationId xmlns:a16="http://schemas.microsoft.com/office/drawing/2014/main" id="{DA78C47E-2452-442C-A714-9B70AB9AB7F1}"/>
              </a:ext>
            </a:extLst>
          </p:cNvPr>
          <p:cNvSpPr>
            <a:spLocks noGrp="1"/>
          </p:cNvSpPr>
          <p:nvPr>
            <p:ph type="title"/>
          </p:nvPr>
        </p:nvSpPr>
        <p:spPr/>
        <p:txBody>
          <a:bodyPr/>
          <a:lstStyle/>
          <a:p>
            <a:r>
              <a:rPr lang="en-AU" dirty="0"/>
              <a:t>Exercise </a:t>
            </a:r>
          </a:p>
        </p:txBody>
      </p:sp>
    </p:spTree>
    <p:extLst>
      <p:ext uri="{BB962C8B-B14F-4D97-AF65-F5344CB8AC3E}">
        <p14:creationId xmlns:p14="http://schemas.microsoft.com/office/powerpoint/2010/main" val="2834257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defRPr/>
            </a:pPr>
            <a:r>
              <a:rPr lang="en-US" dirty="0"/>
              <a:t>Initiating Processes</a:t>
            </a:r>
          </a:p>
        </p:txBody>
      </p:sp>
      <p:sp>
        <p:nvSpPr>
          <p:cNvPr id="33795" name="Rectangle 3"/>
          <p:cNvSpPr>
            <a:spLocks noGrp="1" noChangeArrowheads="1"/>
          </p:cNvSpPr>
          <p:nvPr>
            <p:ph type="body" idx="1"/>
          </p:nvPr>
        </p:nvSpPr>
        <p:spPr>
          <a:xfrm>
            <a:off x="457200" y="1481138"/>
            <a:ext cx="8458200" cy="4525962"/>
          </a:xfrm>
        </p:spPr>
        <p:txBody>
          <a:bodyPr/>
          <a:lstStyle/>
          <a:p>
            <a:pPr lvl="0"/>
            <a:r>
              <a:rPr lang="en-US" dirty="0"/>
              <a:t>Identifying project stakeholders</a:t>
            </a:r>
          </a:p>
          <a:p>
            <a:pPr lvl="0"/>
            <a:r>
              <a:rPr lang="en-US" dirty="0"/>
              <a:t>Creating the project charter</a:t>
            </a:r>
          </a:p>
          <a:p>
            <a:pPr lvl="0"/>
            <a:r>
              <a:rPr lang="en-US" dirty="0"/>
              <a:t>Creating the assumption log</a:t>
            </a:r>
          </a:p>
          <a:p>
            <a:pPr lvl="0"/>
            <a:r>
              <a:rPr lang="en-US" dirty="0"/>
              <a:t>Holding a kick-off meeting</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22</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345161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dirty="0"/>
              <a:t>Figure 3-12. Initiating Processes and Outputs (</a:t>
            </a:r>
            <a:r>
              <a:rPr lang="en-US" sz="3200" i="1" dirty="0"/>
              <a:t>PMBOK</a:t>
            </a:r>
            <a:r>
              <a:rPr lang="en-US" sz="3200" i="1" baseline="30000" dirty="0"/>
              <a:t>® </a:t>
            </a:r>
            <a:r>
              <a:rPr lang="en-US" sz="3200" i="1" dirty="0"/>
              <a:t>Guide – Sixth Edition</a:t>
            </a:r>
            <a:r>
              <a:rPr lang="en-US" sz="3200" dirty="0"/>
              <a:t>)</a:t>
            </a:r>
          </a:p>
        </p:txBody>
      </p:sp>
      <p:graphicFrame>
        <p:nvGraphicFramePr>
          <p:cNvPr id="7" name="Table 6"/>
          <p:cNvGraphicFramePr>
            <a:graphicFrameLocks noGrp="1"/>
          </p:cNvGraphicFramePr>
          <p:nvPr>
            <p:extLst>
              <p:ext uri="{D42A27DB-BD31-4B8C-83A1-F6EECF244321}">
                <p14:modId xmlns:p14="http://schemas.microsoft.com/office/powerpoint/2010/main" val="3933110927"/>
              </p:ext>
            </p:extLst>
          </p:nvPr>
        </p:nvGraphicFramePr>
        <p:xfrm>
          <a:off x="491128" y="1371600"/>
          <a:ext cx="7696200" cy="4792435"/>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2463800">
                  <a:extLst>
                    <a:ext uri="{9D8B030D-6E8A-4147-A177-3AD203B41FA5}">
                      <a16:colId xmlns:a16="http://schemas.microsoft.com/office/drawing/2014/main" val="20001"/>
                    </a:ext>
                  </a:extLst>
                </a:gridCol>
                <a:gridCol w="2565400">
                  <a:extLst>
                    <a:ext uri="{9D8B030D-6E8A-4147-A177-3AD203B41FA5}">
                      <a16:colId xmlns:a16="http://schemas.microsoft.com/office/drawing/2014/main" val="20002"/>
                    </a:ext>
                  </a:extLst>
                </a:gridCol>
              </a:tblGrid>
              <a:tr h="894529">
                <a:tc>
                  <a:txBody>
                    <a:bodyPr/>
                    <a:lstStyle/>
                    <a:p>
                      <a:pPr marL="0" marR="0">
                        <a:lnSpc>
                          <a:spcPts val="1600"/>
                        </a:lnSpc>
                        <a:spcBef>
                          <a:spcPts val="800"/>
                        </a:spcBef>
                        <a:spcAft>
                          <a:spcPts val="0"/>
                        </a:spcAft>
                      </a:pPr>
                      <a:endParaRPr lang="en-US" sz="2400" dirty="0"/>
                    </a:p>
                    <a:p>
                      <a:pPr marL="0" marR="0">
                        <a:lnSpc>
                          <a:spcPts val="1600"/>
                        </a:lnSpc>
                        <a:spcBef>
                          <a:spcPts val="800"/>
                        </a:spcBef>
                        <a:spcAft>
                          <a:spcPts val="0"/>
                        </a:spcAft>
                      </a:pPr>
                      <a:r>
                        <a:rPr lang="en-US" sz="2400" dirty="0"/>
                        <a:t>Knowledge area</a:t>
                      </a:r>
                      <a:endParaRPr lang="en-US" sz="2400" dirty="0">
                        <a:latin typeface="Times New Roman" pitchFamily="18" charset="0"/>
                        <a:ea typeface="Times New Roman"/>
                        <a:cs typeface="Times New Roman" pitchFamily="18" charset="0"/>
                      </a:endParaRPr>
                    </a:p>
                  </a:txBody>
                  <a:tcPr marL="68580" marR="68580" marT="0" marB="0"/>
                </a:tc>
                <a:tc>
                  <a:txBody>
                    <a:bodyPr/>
                    <a:lstStyle/>
                    <a:p>
                      <a:pPr marL="0" marR="0">
                        <a:lnSpc>
                          <a:spcPts val="1600"/>
                        </a:lnSpc>
                        <a:spcBef>
                          <a:spcPts val="800"/>
                        </a:spcBef>
                        <a:spcAft>
                          <a:spcPts val="0"/>
                        </a:spcAft>
                      </a:pPr>
                      <a:endParaRPr lang="en-US" sz="2400" dirty="0"/>
                    </a:p>
                    <a:p>
                      <a:pPr marL="0" marR="0">
                        <a:lnSpc>
                          <a:spcPts val="1600"/>
                        </a:lnSpc>
                        <a:spcBef>
                          <a:spcPts val="800"/>
                        </a:spcBef>
                        <a:spcAft>
                          <a:spcPts val="0"/>
                        </a:spcAft>
                      </a:pPr>
                      <a:r>
                        <a:rPr lang="en-US" sz="2400" dirty="0"/>
                        <a:t>Initiating process</a:t>
                      </a:r>
                      <a:endParaRPr lang="en-US" sz="2400" dirty="0">
                        <a:latin typeface="Times New Roman" pitchFamily="18" charset="0"/>
                        <a:ea typeface="Times New Roman"/>
                        <a:cs typeface="Times New Roman" pitchFamily="18" charset="0"/>
                      </a:endParaRPr>
                    </a:p>
                  </a:txBody>
                  <a:tcPr marL="68580" marR="68580" marT="0" marB="0"/>
                </a:tc>
                <a:tc>
                  <a:txBody>
                    <a:bodyPr/>
                    <a:lstStyle/>
                    <a:p>
                      <a:pPr marL="0" marR="0">
                        <a:lnSpc>
                          <a:spcPts val="1600"/>
                        </a:lnSpc>
                        <a:spcBef>
                          <a:spcPts val="800"/>
                        </a:spcBef>
                        <a:spcAft>
                          <a:spcPts val="0"/>
                        </a:spcAft>
                      </a:pPr>
                      <a:endParaRPr lang="en-US" sz="2400" dirty="0"/>
                    </a:p>
                    <a:p>
                      <a:pPr marL="0" marR="0">
                        <a:lnSpc>
                          <a:spcPts val="1600"/>
                        </a:lnSpc>
                        <a:spcBef>
                          <a:spcPts val="800"/>
                        </a:spcBef>
                        <a:spcAft>
                          <a:spcPts val="0"/>
                        </a:spcAft>
                      </a:pPr>
                      <a:r>
                        <a:rPr lang="en-US" sz="2400" dirty="0"/>
                        <a:t>Outputs</a:t>
                      </a:r>
                      <a:endParaRPr lang="en-US" sz="2400" dirty="0">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0"/>
                  </a:ext>
                </a:extLst>
              </a:tr>
              <a:tr h="1380131">
                <a:tc>
                  <a:txBody>
                    <a:bodyPr/>
                    <a:lstStyle/>
                    <a:p>
                      <a:pPr marL="0" marR="0">
                        <a:spcBef>
                          <a:spcPts val="300"/>
                        </a:spcBef>
                        <a:spcAft>
                          <a:spcPts val="0"/>
                        </a:spcAft>
                      </a:pPr>
                      <a:r>
                        <a:rPr lang="en-US" sz="1800" b="1" dirty="0">
                          <a:solidFill>
                            <a:schemeClr val="tx1"/>
                          </a:solidFill>
                          <a:effectLst/>
                          <a:latin typeface="+mn-lt"/>
                          <a:ea typeface="Times New Roman" panose="02020603050405020304" pitchFamily="18" charset="0"/>
                          <a:cs typeface="Times New Roman" panose="02020603050405020304" pitchFamily="18" charset="0"/>
                        </a:rPr>
                        <a:t>Project integration management</a:t>
                      </a:r>
                      <a:endParaRPr lang="en-US" sz="180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300"/>
                        </a:spcBef>
                        <a:spcAft>
                          <a:spcPts val="0"/>
                        </a:spcAft>
                      </a:pPr>
                      <a:r>
                        <a:rPr lang="en-US" sz="1800" b="0" dirty="0">
                          <a:solidFill>
                            <a:schemeClr val="tx1"/>
                          </a:solidFill>
                          <a:effectLst/>
                          <a:latin typeface="+mn-lt"/>
                          <a:ea typeface="Times New Roman" panose="02020603050405020304" pitchFamily="18" charset="0"/>
                          <a:cs typeface="Times New Roman" panose="02020603050405020304" pitchFamily="18" charset="0"/>
                        </a:rPr>
                        <a:t>Develop project charter</a:t>
                      </a:r>
                    </a:p>
                  </a:txBody>
                  <a:tcPr marL="68580" marR="68580" marT="0" marB="0"/>
                </a:tc>
                <a:tc>
                  <a:txBody>
                    <a:bodyPr/>
                    <a:lstStyle/>
                    <a:p>
                      <a:pPr marL="0" marR="0">
                        <a:spcBef>
                          <a:spcPts val="300"/>
                        </a:spcBef>
                        <a:spcAft>
                          <a:spcPts val="0"/>
                        </a:spcAft>
                      </a:pPr>
                      <a:r>
                        <a:rPr lang="en-US" sz="1800" b="0" dirty="0">
                          <a:solidFill>
                            <a:schemeClr val="tx1"/>
                          </a:solidFill>
                          <a:effectLst/>
                          <a:latin typeface="+mn-lt"/>
                          <a:ea typeface="Times New Roman" panose="02020603050405020304" pitchFamily="18" charset="0"/>
                          <a:cs typeface="Times New Roman" panose="02020603050405020304" pitchFamily="18" charset="0"/>
                        </a:rPr>
                        <a:t>Project charter</a:t>
                      </a:r>
                    </a:p>
                    <a:p>
                      <a:pPr marL="0" marR="0">
                        <a:lnSpc>
                          <a:spcPct val="150000"/>
                        </a:lnSpc>
                        <a:spcBef>
                          <a:spcPts val="600"/>
                        </a:spcBef>
                        <a:spcAft>
                          <a:spcPts val="0"/>
                        </a:spcAft>
                      </a:pPr>
                      <a:r>
                        <a:rPr lang="en-US" sz="1800" b="0" dirty="0">
                          <a:solidFill>
                            <a:schemeClr val="tx1"/>
                          </a:solidFill>
                          <a:effectLst/>
                          <a:latin typeface="+mn-lt"/>
                          <a:ea typeface="Times New Roman" panose="02020603050405020304" pitchFamily="18" charset="0"/>
                          <a:cs typeface="Times New Roman" panose="02020603050405020304" pitchFamily="18" charset="0"/>
                        </a:rPr>
                        <a:t>Assumption log</a:t>
                      </a:r>
                      <a:endParaRPr lang="en-US" sz="28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357540">
                <a:tc>
                  <a:txBody>
                    <a:bodyPr/>
                    <a:lstStyle/>
                    <a:p>
                      <a:pPr marL="0" marR="0">
                        <a:spcBef>
                          <a:spcPts val="300"/>
                        </a:spcBef>
                        <a:spcAft>
                          <a:spcPts val="0"/>
                        </a:spcAft>
                      </a:pPr>
                      <a:r>
                        <a:rPr lang="en-US" sz="1800" b="1" dirty="0">
                          <a:solidFill>
                            <a:schemeClr val="tx1"/>
                          </a:solidFill>
                          <a:effectLst/>
                          <a:latin typeface="+mn-lt"/>
                          <a:ea typeface="Times New Roman" panose="02020603050405020304" pitchFamily="18" charset="0"/>
                          <a:cs typeface="Times New Roman" panose="02020603050405020304" pitchFamily="18" charset="0"/>
                        </a:rPr>
                        <a:t>Project stakeholder management</a:t>
                      </a:r>
                      <a:endParaRPr lang="en-US" sz="180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300"/>
                        </a:spcBef>
                        <a:spcAft>
                          <a:spcPts val="0"/>
                        </a:spcAft>
                      </a:pPr>
                      <a:r>
                        <a:rPr lang="en-US" sz="1800" dirty="0">
                          <a:solidFill>
                            <a:schemeClr val="tx1"/>
                          </a:solidFill>
                          <a:effectLst/>
                          <a:latin typeface="+mn-lt"/>
                          <a:ea typeface="Times New Roman" panose="02020603050405020304" pitchFamily="18" charset="0"/>
                          <a:cs typeface="Times New Roman" panose="02020603050405020304" pitchFamily="18" charset="0"/>
                        </a:rPr>
                        <a:t>Identify stakeholders</a:t>
                      </a:r>
                    </a:p>
                  </a:txBody>
                  <a:tcPr marL="68580" marR="68580" marT="0" marB="0"/>
                </a:tc>
                <a:tc>
                  <a:txBody>
                    <a:bodyPr/>
                    <a:lstStyle/>
                    <a:p>
                      <a:pPr marL="0" marR="0">
                        <a:spcBef>
                          <a:spcPts val="300"/>
                        </a:spcBef>
                        <a:spcAft>
                          <a:spcPts val="0"/>
                        </a:spcAft>
                      </a:pPr>
                      <a:r>
                        <a:rPr lang="en-US" sz="1800" dirty="0">
                          <a:solidFill>
                            <a:schemeClr val="tx1"/>
                          </a:solidFill>
                          <a:effectLst/>
                          <a:latin typeface="+mn-lt"/>
                          <a:ea typeface="Times New Roman" panose="02020603050405020304" pitchFamily="18" charset="0"/>
                          <a:cs typeface="Times New Roman" panose="02020603050405020304" pitchFamily="18" charset="0"/>
                        </a:rPr>
                        <a:t>Stakeholder register</a:t>
                      </a:r>
                    </a:p>
                    <a:p>
                      <a:pPr marL="0" marR="0">
                        <a:lnSpc>
                          <a:spcPct val="150000"/>
                        </a:lnSpc>
                        <a:spcBef>
                          <a:spcPts val="600"/>
                        </a:spcBef>
                        <a:spcAft>
                          <a:spcPts val="0"/>
                        </a:spcAft>
                      </a:pPr>
                      <a:r>
                        <a:rPr lang="en-US" sz="1800" dirty="0">
                          <a:solidFill>
                            <a:schemeClr val="tx1"/>
                          </a:solidFill>
                          <a:effectLst/>
                          <a:latin typeface="+mn-lt"/>
                          <a:ea typeface="Times New Roman" panose="02020603050405020304" pitchFamily="18" charset="0"/>
                          <a:cs typeface="Times New Roman" panose="02020603050405020304" pitchFamily="18" charset="0"/>
                        </a:rPr>
                        <a:t>Change requests</a:t>
                      </a:r>
                      <a:endParaRPr lang="en-US" sz="2800" dirty="0">
                        <a:solidFill>
                          <a:schemeClr val="tx1"/>
                        </a:solidFill>
                        <a:effectLst/>
                        <a:latin typeface="+mn-lt"/>
                        <a:ea typeface="Times New Roman" panose="02020603050405020304" pitchFamily="18" charset="0"/>
                        <a:cs typeface="Times New Roman" panose="02020603050405020304" pitchFamily="18" charset="0"/>
                      </a:endParaRPr>
                    </a:p>
                    <a:p>
                      <a:pPr marL="0" marR="0">
                        <a:lnSpc>
                          <a:spcPct val="150000"/>
                        </a:lnSpc>
                        <a:spcBef>
                          <a:spcPts val="600"/>
                        </a:spcBef>
                        <a:spcAft>
                          <a:spcPts val="0"/>
                        </a:spcAft>
                      </a:pPr>
                      <a:r>
                        <a:rPr lang="en-US" sz="1800" dirty="0">
                          <a:solidFill>
                            <a:schemeClr val="tx1"/>
                          </a:solidFill>
                          <a:effectLst/>
                          <a:latin typeface="+mn-lt"/>
                          <a:ea typeface="Times New Roman" panose="02020603050405020304" pitchFamily="18" charset="0"/>
                          <a:cs typeface="Times New Roman" panose="02020603050405020304" pitchFamily="18" charset="0"/>
                        </a:rPr>
                        <a:t>Project management plan updates</a:t>
                      </a:r>
                      <a:endParaRPr lang="en-US" sz="2800" dirty="0">
                        <a:solidFill>
                          <a:schemeClr val="tx1"/>
                        </a:solidFill>
                        <a:effectLst/>
                        <a:latin typeface="+mn-lt"/>
                        <a:ea typeface="Times New Roman" panose="02020603050405020304" pitchFamily="18" charset="0"/>
                        <a:cs typeface="Times New Roman" panose="02020603050405020304" pitchFamily="18" charset="0"/>
                      </a:endParaRPr>
                    </a:p>
                    <a:p>
                      <a:pPr marL="0" marR="0">
                        <a:lnSpc>
                          <a:spcPct val="150000"/>
                        </a:lnSpc>
                        <a:spcBef>
                          <a:spcPts val="600"/>
                        </a:spcBef>
                        <a:spcAft>
                          <a:spcPts val="0"/>
                        </a:spcAft>
                      </a:pPr>
                      <a:r>
                        <a:rPr lang="en-US" sz="1800" dirty="0">
                          <a:solidFill>
                            <a:schemeClr val="tx1"/>
                          </a:solidFill>
                          <a:effectLst/>
                          <a:latin typeface="+mn-lt"/>
                          <a:ea typeface="Times New Roman" panose="02020603050405020304" pitchFamily="18" charset="0"/>
                          <a:cs typeface="Times New Roman" panose="02020603050405020304" pitchFamily="18" charset="0"/>
                        </a:rPr>
                        <a:t>Project documents updates</a:t>
                      </a:r>
                      <a:endParaRPr lang="en-US" sz="280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23</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630003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normAutofit/>
          </a:bodyPr>
          <a:lstStyle/>
          <a:p>
            <a:pPr eaLnBrk="1" hangingPunct="1">
              <a:defRPr/>
            </a:pPr>
            <a:r>
              <a:rPr lang="en-US" sz="4000" dirty="0"/>
              <a:t>Identifying Stakeholders</a:t>
            </a:r>
          </a:p>
        </p:txBody>
      </p:sp>
      <p:sp>
        <p:nvSpPr>
          <p:cNvPr id="34819" name="Rectangle 3"/>
          <p:cNvSpPr>
            <a:spLocks noGrp="1" noChangeArrowheads="1"/>
          </p:cNvSpPr>
          <p:nvPr>
            <p:ph type="body" idx="1"/>
          </p:nvPr>
        </p:nvSpPr>
        <p:spPr>
          <a:xfrm>
            <a:off x="381000" y="1524000"/>
            <a:ext cx="8458200" cy="5029200"/>
          </a:xfrm>
        </p:spPr>
        <p:txBody>
          <a:bodyPr/>
          <a:lstStyle/>
          <a:p>
            <a:pPr eaLnBrk="1" hangingPunct="1">
              <a:lnSpc>
                <a:spcPct val="90000"/>
              </a:lnSpc>
            </a:pPr>
            <a:r>
              <a:rPr lang="en-US" b="1" dirty="0"/>
              <a:t>Project stakeholders</a:t>
            </a:r>
            <a:r>
              <a:rPr lang="en-US" dirty="0"/>
              <a:t> are the people involved in or affected by project activities </a:t>
            </a:r>
          </a:p>
          <a:p>
            <a:pPr lvl="1" eaLnBrk="1" hangingPunct="1">
              <a:lnSpc>
                <a:spcPct val="90000"/>
              </a:lnSpc>
            </a:pPr>
            <a:r>
              <a:rPr lang="en-US" dirty="0"/>
              <a:t>Internal project stakeholders generally include the project sponsor, project team, support staff, and internal customers for the project. Other internal stakeholders include top management, other functional managers, and other project managers</a:t>
            </a:r>
          </a:p>
          <a:p>
            <a:pPr lvl="1" eaLnBrk="1" hangingPunct="1">
              <a:lnSpc>
                <a:spcPct val="90000"/>
              </a:lnSpc>
            </a:pPr>
            <a:r>
              <a:rPr lang="en-US" dirty="0"/>
              <a:t>External project stakeholders include the project’s customers (if they are external to the organization), competitors, suppliers, and other external groups that are potentially involved in or affected by the project, such as government officials and concerned citizens</a:t>
            </a:r>
          </a:p>
          <a:p>
            <a:pPr eaLnBrk="1" hangingPunct="1">
              <a:lnSpc>
                <a:spcPct val="90000"/>
              </a:lnSpc>
            </a:pPr>
            <a:endParaRPr lang="en-US"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24</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1210741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normAutofit fontScale="90000"/>
          </a:bodyPr>
          <a:lstStyle/>
          <a:p>
            <a:pPr eaLnBrk="1" hangingPunct="1">
              <a:defRPr/>
            </a:pPr>
            <a:r>
              <a:rPr lang="en-US" dirty="0"/>
              <a:t>Stakeholder Register and Stakeholder Analysis</a:t>
            </a:r>
          </a:p>
        </p:txBody>
      </p:sp>
      <p:sp>
        <p:nvSpPr>
          <p:cNvPr id="35843" name="Rectangle 3"/>
          <p:cNvSpPr>
            <a:spLocks noGrp="1" noChangeArrowheads="1"/>
          </p:cNvSpPr>
          <p:nvPr>
            <p:ph type="body" idx="1"/>
          </p:nvPr>
        </p:nvSpPr>
        <p:spPr>
          <a:xfrm>
            <a:off x="304800" y="1524000"/>
            <a:ext cx="8534400" cy="3733800"/>
          </a:xfrm>
        </p:spPr>
        <p:txBody>
          <a:bodyPr/>
          <a:lstStyle/>
          <a:p>
            <a:pPr eaLnBrk="1" hangingPunct="1"/>
            <a:r>
              <a:rPr lang="en-US" sz="2400" dirty="0"/>
              <a:t>A</a:t>
            </a:r>
            <a:r>
              <a:rPr lang="en-US" sz="2400" b="1" dirty="0"/>
              <a:t> stakeholder register </a:t>
            </a:r>
            <a:r>
              <a:rPr lang="en-US" sz="2400" dirty="0"/>
              <a:t>is a document that includes details related to the identified project stakeholders -usually available to many people, so it should not include sensitive information</a:t>
            </a:r>
          </a:p>
          <a:p>
            <a:r>
              <a:rPr lang="en-US" sz="2400" dirty="0"/>
              <a:t>A </a:t>
            </a:r>
            <a:r>
              <a:rPr lang="en-US" sz="2400" b="1" dirty="0"/>
              <a:t>stakeholder analysis </a:t>
            </a:r>
            <a:r>
              <a:rPr lang="en-US" sz="2400" dirty="0"/>
              <a:t>is a technique for analyzing information to determine which stakeholders’ interests to focus on and how to increase stakeholder support throughout the project</a:t>
            </a:r>
          </a:p>
          <a:p>
            <a:pPr eaLnBrk="1" hangingPunct="1"/>
            <a:endParaRPr lang="en-US" sz="2400"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25</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04239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228600" y="381000"/>
            <a:ext cx="8382000" cy="762000"/>
          </a:xfrm>
        </p:spPr>
        <p:txBody>
          <a:bodyPr>
            <a:normAutofit fontScale="90000"/>
          </a:bodyPr>
          <a:lstStyle/>
          <a:p>
            <a:pPr eaLnBrk="1" hangingPunct="1">
              <a:defRPr/>
            </a:pPr>
            <a:r>
              <a:rPr lang="en-US" sz="4000" dirty="0"/>
              <a:t>Figure 3-13. Sample Stakeholder Register</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26</a:t>
            </a:fld>
            <a:endParaRPr lang="en-US" sz="1600" dirty="0">
              <a:latin typeface="Arial Unicode MS" pitchFamily="34" charset="-128"/>
              <a:ea typeface="Arial Unicode MS" pitchFamily="34" charset="-128"/>
              <a:cs typeface="Arial Unicode MS" pitchFamily="34"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618924302"/>
              </p:ext>
            </p:extLst>
          </p:nvPr>
        </p:nvGraphicFramePr>
        <p:xfrm>
          <a:off x="533399" y="1447800"/>
          <a:ext cx="7924801" cy="3962400"/>
        </p:xfrm>
        <a:graphic>
          <a:graphicData uri="http://schemas.openxmlformats.org/drawingml/2006/table">
            <a:tbl>
              <a:tblPr firstRow="1" firstCol="1" bandRow="1">
                <a:tableStyleId>{5C22544A-7EE6-4342-B048-85BDC9FD1C3A}</a:tableStyleId>
              </a:tblPr>
              <a:tblGrid>
                <a:gridCol w="1143619">
                  <a:extLst>
                    <a:ext uri="{9D8B030D-6E8A-4147-A177-3AD203B41FA5}">
                      <a16:colId xmlns:a16="http://schemas.microsoft.com/office/drawing/2014/main" val="20000"/>
                    </a:ext>
                  </a:extLst>
                </a:gridCol>
                <a:gridCol w="1127513">
                  <a:extLst>
                    <a:ext uri="{9D8B030D-6E8A-4147-A177-3AD203B41FA5}">
                      <a16:colId xmlns:a16="http://schemas.microsoft.com/office/drawing/2014/main" val="20001"/>
                    </a:ext>
                  </a:extLst>
                </a:gridCol>
                <a:gridCol w="1046976">
                  <a:extLst>
                    <a:ext uri="{9D8B030D-6E8A-4147-A177-3AD203B41FA5}">
                      <a16:colId xmlns:a16="http://schemas.microsoft.com/office/drawing/2014/main" val="20002"/>
                    </a:ext>
                  </a:extLst>
                </a:gridCol>
                <a:gridCol w="1046976">
                  <a:extLst>
                    <a:ext uri="{9D8B030D-6E8A-4147-A177-3AD203B41FA5}">
                      <a16:colId xmlns:a16="http://schemas.microsoft.com/office/drawing/2014/main" val="20003"/>
                    </a:ext>
                  </a:extLst>
                </a:gridCol>
                <a:gridCol w="3559717">
                  <a:extLst>
                    <a:ext uri="{9D8B030D-6E8A-4147-A177-3AD203B41FA5}">
                      <a16:colId xmlns:a16="http://schemas.microsoft.com/office/drawing/2014/main" val="20004"/>
                    </a:ext>
                  </a:extLst>
                </a:gridCol>
              </a:tblGrid>
              <a:tr h="990600">
                <a:tc>
                  <a:txBody>
                    <a:bodyPr/>
                    <a:lstStyle/>
                    <a:p>
                      <a:pPr marL="0" marR="0">
                        <a:lnSpc>
                          <a:spcPct val="150000"/>
                        </a:lnSpc>
                        <a:spcBef>
                          <a:spcPts val="600"/>
                        </a:spcBef>
                        <a:spcAft>
                          <a:spcPts val="0"/>
                        </a:spcAft>
                      </a:pPr>
                      <a:r>
                        <a:rPr lang="en-US" sz="1600" dirty="0">
                          <a:effectLst/>
                        </a:rPr>
                        <a:t>Name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Position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Internal/</a:t>
                      </a:r>
                      <a:endParaRPr lang="en-US" sz="2400" dirty="0">
                        <a:effectLst/>
                      </a:endParaRPr>
                    </a:p>
                    <a:p>
                      <a:pPr marL="0" marR="0">
                        <a:lnSpc>
                          <a:spcPct val="150000"/>
                        </a:lnSpc>
                        <a:spcBef>
                          <a:spcPts val="600"/>
                        </a:spcBef>
                        <a:spcAft>
                          <a:spcPts val="0"/>
                        </a:spcAft>
                      </a:pPr>
                      <a:r>
                        <a:rPr lang="en-US" sz="1600" dirty="0">
                          <a:effectLst/>
                        </a:rPr>
                        <a:t>External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Project</a:t>
                      </a:r>
                      <a:endParaRPr lang="en-US" sz="2400" dirty="0">
                        <a:effectLst/>
                      </a:endParaRPr>
                    </a:p>
                    <a:p>
                      <a:pPr marL="0" marR="0">
                        <a:lnSpc>
                          <a:spcPct val="150000"/>
                        </a:lnSpc>
                        <a:spcBef>
                          <a:spcPts val="600"/>
                        </a:spcBef>
                        <a:spcAft>
                          <a:spcPts val="0"/>
                        </a:spcAft>
                      </a:pPr>
                      <a:r>
                        <a:rPr lang="en-US" sz="1600" dirty="0">
                          <a:effectLst/>
                        </a:rPr>
                        <a:t>Role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Contact Information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842288">
                <a:tc>
                  <a:txBody>
                    <a:bodyPr/>
                    <a:lstStyle/>
                    <a:p>
                      <a:pPr marL="0" marR="0">
                        <a:lnSpc>
                          <a:spcPct val="150000"/>
                        </a:lnSpc>
                        <a:spcBef>
                          <a:spcPts val="600"/>
                        </a:spcBef>
                        <a:spcAft>
                          <a:spcPts val="0"/>
                        </a:spcAft>
                      </a:pPr>
                      <a:r>
                        <a:rPr lang="en-US" sz="1600" dirty="0">
                          <a:effectLst/>
                        </a:rPr>
                        <a:t>Mike Sundby</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VP of HR</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Internal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Project champion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msundy@globalconstruction.com</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842288">
                <a:tc>
                  <a:txBody>
                    <a:bodyPr/>
                    <a:lstStyle/>
                    <a:p>
                      <a:pPr marL="0" marR="0">
                        <a:lnSpc>
                          <a:spcPct val="150000"/>
                        </a:lnSpc>
                        <a:spcBef>
                          <a:spcPts val="600"/>
                        </a:spcBef>
                        <a:spcAft>
                          <a:spcPts val="0"/>
                        </a:spcAft>
                      </a:pPr>
                      <a:r>
                        <a:rPr lang="en-US" sz="1600" dirty="0">
                          <a:effectLst/>
                        </a:rPr>
                        <a:t>Lucy Camerena</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Training Director</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Internal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Project sponsor</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lcamerena@globalconstruction.com</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287224">
                <a:tc>
                  <a:txBody>
                    <a:bodyPr/>
                    <a:lstStyle/>
                    <a:p>
                      <a:pPr marL="0" marR="0">
                        <a:lnSpc>
                          <a:spcPct val="150000"/>
                        </a:lnSpc>
                        <a:spcBef>
                          <a:spcPts val="600"/>
                        </a:spcBef>
                        <a:spcAft>
                          <a:spcPts val="0"/>
                        </a:spcAft>
                      </a:pPr>
                      <a:r>
                        <a:rPr lang="en-US" sz="1600" dirty="0">
                          <a:effectLst/>
                        </a:rPr>
                        <a:t>Ron Ryan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Senior HR staff member</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Internal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Led the Phase I project</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rPr>
                        <a:t>rryan@globalconstruction.com</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35555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Figure 3-14. Sample Stakeholder Analysis Power/Interest Grid</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1701800"/>
            <a:ext cx="5490527" cy="4241800"/>
          </a:xfrm>
          <a:prstGeom prst="rect">
            <a:avLst/>
          </a:prstGeom>
          <a:noFill/>
          <a:ln>
            <a:noFill/>
          </a:ln>
        </p:spPr>
      </p:pic>
    </p:spTree>
    <p:extLst>
      <p:ext uri="{BB962C8B-B14F-4D97-AF65-F5344CB8AC3E}">
        <p14:creationId xmlns:p14="http://schemas.microsoft.com/office/powerpoint/2010/main" val="3057411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lvl="0"/>
            <a:r>
              <a:rPr lang="en-US" i="1" dirty="0"/>
              <a:t>Unaware:</a:t>
            </a:r>
            <a:r>
              <a:rPr lang="en-US" dirty="0"/>
              <a:t> Unaware of the project and its potential impacts on them</a:t>
            </a:r>
          </a:p>
          <a:p>
            <a:pPr lvl="0"/>
            <a:r>
              <a:rPr lang="en-US" i="1" dirty="0"/>
              <a:t>Resistant:</a:t>
            </a:r>
            <a:r>
              <a:rPr lang="en-US" dirty="0"/>
              <a:t> Aware of the project yet resistant to change</a:t>
            </a:r>
          </a:p>
          <a:p>
            <a:pPr lvl="0"/>
            <a:r>
              <a:rPr lang="en-US" i="1" dirty="0"/>
              <a:t>Neutral:</a:t>
            </a:r>
            <a:r>
              <a:rPr lang="en-US" dirty="0"/>
              <a:t> Aware of the project yet neither supportive nor resistant</a:t>
            </a:r>
          </a:p>
          <a:p>
            <a:pPr lvl="0"/>
            <a:r>
              <a:rPr lang="en-US" i="1" dirty="0"/>
              <a:t>Supportive:</a:t>
            </a:r>
            <a:r>
              <a:rPr lang="en-US" dirty="0"/>
              <a:t> Aware of the project and supportive of change</a:t>
            </a:r>
          </a:p>
          <a:p>
            <a:pPr lvl="0"/>
            <a:r>
              <a:rPr lang="en-US" i="1" dirty="0"/>
              <a:t>Leading:</a:t>
            </a:r>
            <a:r>
              <a:rPr lang="en-US" dirty="0"/>
              <a:t> Aware of the project and its potential impacts and actively engaged in helping it succeed</a:t>
            </a:r>
          </a:p>
          <a:p>
            <a:pPr marL="109728" indent="0">
              <a:buNone/>
            </a:pPr>
            <a:endParaRPr lang="en-US" dirty="0"/>
          </a:p>
        </p:txBody>
      </p:sp>
      <p:sp>
        <p:nvSpPr>
          <p:cNvPr id="3" name="Title 2"/>
          <p:cNvSpPr>
            <a:spLocks noGrp="1"/>
          </p:cNvSpPr>
          <p:nvPr>
            <p:ph type="title"/>
          </p:nvPr>
        </p:nvSpPr>
        <p:spPr/>
        <p:txBody>
          <a:bodyPr>
            <a:normAutofit fontScale="90000"/>
          </a:bodyPr>
          <a:lstStyle/>
          <a:p>
            <a:r>
              <a:rPr lang="en-US" dirty="0"/>
              <a:t>Categorizing Engagement Levels of Stakeholders</a:t>
            </a:r>
          </a:p>
        </p:txBody>
      </p:sp>
    </p:spTree>
    <p:extLst>
      <p:ext uri="{BB962C8B-B14F-4D97-AF65-F5344CB8AC3E}">
        <p14:creationId xmlns:p14="http://schemas.microsoft.com/office/powerpoint/2010/main" val="3166509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457200" y="0"/>
            <a:ext cx="8229600" cy="1143000"/>
          </a:xfrm>
        </p:spPr>
        <p:txBody>
          <a:bodyPr>
            <a:normAutofit fontScale="90000"/>
          </a:bodyPr>
          <a:lstStyle/>
          <a:p>
            <a:pPr eaLnBrk="1" hangingPunct="1">
              <a:defRPr/>
            </a:pPr>
            <a:r>
              <a:rPr lang="en-US" dirty="0"/>
              <a:t>Creating a Project Charter and Assumptions Log</a:t>
            </a:r>
          </a:p>
        </p:txBody>
      </p:sp>
      <p:sp>
        <p:nvSpPr>
          <p:cNvPr id="43011" name="Rectangle 3"/>
          <p:cNvSpPr>
            <a:spLocks noGrp="1" noChangeArrowheads="1"/>
          </p:cNvSpPr>
          <p:nvPr>
            <p:ph type="body" idx="1"/>
          </p:nvPr>
        </p:nvSpPr>
        <p:spPr>
          <a:xfrm>
            <a:off x="406875" y="1265237"/>
            <a:ext cx="8458200" cy="5105400"/>
          </a:xfrm>
        </p:spPr>
        <p:txBody>
          <a:bodyPr>
            <a:normAutofit lnSpcReduction="10000"/>
          </a:bodyPr>
          <a:lstStyle/>
          <a:p>
            <a:pPr eaLnBrk="1" hangingPunct="1">
              <a:lnSpc>
                <a:spcPct val="90000"/>
              </a:lnSpc>
            </a:pPr>
            <a:r>
              <a:rPr lang="en-US" dirty="0"/>
              <a:t>A </a:t>
            </a:r>
            <a:r>
              <a:rPr lang="en-US" b="1" dirty="0"/>
              <a:t>project charter </a:t>
            </a:r>
            <a:r>
              <a:rPr lang="en-US" dirty="0"/>
              <a:t>is a document that formally recognizes the existence of a project and provides a summary of the project’s objectives and management</a:t>
            </a:r>
          </a:p>
          <a:p>
            <a:pPr eaLnBrk="1" hangingPunct="1">
              <a:lnSpc>
                <a:spcPct val="90000"/>
              </a:lnSpc>
            </a:pPr>
            <a:r>
              <a:rPr lang="en-US" dirty="0"/>
              <a:t>It authorizes the project manager to use organizational resources to complete the project</a:t>
            </a:r>
          </a:p>
          <a:p>
            <a:pPr eaLnBrk="1" hangingPunct="1">
              <a:lnSpc>
                <a:spcPct val="90000"/>
              </a:lnSpc>
            </a:pPr>
            <a:r>
              <a:rPr lang="en-US" dirty="0"/>
              <a:t>Ideally, the project manager will play a major role in developing the project charter</a:t>
            </a:r>
          </a:p>
          <a:p>
            <a:pPr eaLnBrk="1" hangingPunct="1">
              <a:lnSpc>
                <a:spcPct val="90000"/>
              </a:lnSpc>
            </a:pPr>
            <a:r>
              <a:rPr lang="en-US" dirty="0"/>
              <a:t>Instead of project charters, some organizations initiate projects using a simple letter of agreement or formal contracts</a:t>
            </a:r>
          </a:p>
          <a:p>
            <a:pPr eaLnBrk="1" hangingPunct="1">
              <a:lnSpc>
                <a:spcPct val="90000"/>
              </a:lnSpc>
            </a:pPr>
            <a:r>
              <a:rPr lang="en-US" i="1" dirty="0"/>
              <a:t>A crucial part of the project charter is the </a:t>
            </a:r>
            <a:r>
              <a:rPr lang="en-US" i="1" dirty="0">
                <a:solidFill>
                  <a:schemeClr val="accent1"/>
                </a:solidFill>
              </a:rPr>
              <a:t>sign-off</a:t>
            </a:r>
            <a:r>
              <a:rPr lang="en-US" i="1" dirty="0">
                <a:solidFill>
                  <a:srgbClr val="FF0000"/>
                </a:solidFill>
              </a:rPr>
              <a:t> </a:t>
            </a:r>
            <a:r>
              <a:rPr lang="en-US" i="1" dirty="0"/>
              <a:t>section</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29</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944278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a:xfrm>
            <a:off x="457200" y="0"/>
            <a:ext cx="8229600" cy="838200"/>
          </a:xfrm>
        </p:spPr>
        <p:txBody>
          <a:bodyPr/>
          <a:lstStyle/>
          <a:p>
            <a:pPr eaLnBrk="1" hangingPunct="1">
              <a:defRPr/>
            </a:pPr>
            <a:r>
              <a:rPr lang="en-US" dirty="0"/>
              <a:t>Contents of a Project Charter</a:t>
            </a:r>
          </a:p>
        </p:txBody>
      </p:sp>
      <p:sp>
        <p:nvSpPr>
          <p:cNvPr id="44035" name="Rectangle 3"/>
          <p:cNvSpPr>
            <a:spLocks noGrp="1" noChangeArrowheads="1"/>
          </p:cNvSpPr>
          <p:nvPr>
            <p:ph type="body" idx="1"/>
          </p:nvPr>
        </p:nvSpPr>
        <p:spPr>
          <a:xfrm>
            <a:off x="636587" y="990600"/>
            <a:ext cx="8229600" cy="5029200"/>
          </a:xfrm>
        </p:spPr>
        <p:txBody>
          <a:bodyPr>
            <a:normAutofit lnSpcReduction="10000"/>
          </a:bodyPr>
          <a:lstStyle/>
          <a:p>
            <a:pPr lvl="0"/>
            <a:r>
              <a:rPr lang="en-US" sz="2400" dirty="0"/>
              <a:t>The project’s title and date of authorization</a:t>
            </a:r>
          </a:p>
          <a:p>
            <a:pPr lvl="0"/>
            <a:r>
              <a:rPr lang="en-US" sz="2400" dirty="0"/>
              <a:t>The project manager’s name and contact information</a:t>
            </a:r>
          </a:p>
          <a:p>
            <a:pPr lvl="0"/>
            <a:r>
              <a:rPr lang="en-US" sz="2400" dirty="0"/>
              <a:t>A summary schedule or timeline, including the planned start and finish dates; if a summary milestone schedule is available, it should also be included or referenced</a:t>
            </a:r>
          </a:p>
          <a:p>
            <a:pPr lvl="0"/>
            <a:r>
              <a:rPr lang="en-US" sz="2400" dirty="0"/>
              <a:t>A summary of the project’s estimated cost and budget allocation</a:t>
            </a:r>
          </a:p>
          <a:p>
            <a:pPr lvl="0"/>
            <a:r>
              <a:rPr lang="en-US" sz="2400" dirty="0"/>
              <a:t>A brief description of the project objectives, including the business need or other justification for authorizing the project</a:t>
            </a:r>
          </a:p>
          <a:p>
            <a:pPr lvl="0"/>
            <a:r>
              <a:rPr lang="en-US" sz="2400" dirty="0"/>
              <a:t>Project success criteria or approval requirements, including project approval requirements and who signs off on the project.</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30</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1948852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lvl="0"/>
            <a:r>
              <a:rPr lang="en-US" sz="2800" dirty="0"/>
              <a:t>A summary of the planned approach for managing the project, which should describe stakeholder needs and expectations, overall project risk, important assumptions and constraints, and should refer to related documents, such as a communications management plan, as available</a:t>
            </a:r>
          </a:p>
          <a:p>
            <a:pPr lvl="0"/>
            <a:r>
              <a:rPr lang="en-US" sz="2800" dirty="0"/>
              <a:t>A roles and responsibilities matrix</a:t>
            </a:r>
          </a:p>
          <a:p>
            <a:pPr lvl="0"/>
            <a:r>
              <a:rPr lang="en-US" sz="2800" dirty="0"/>
              <a:t>A sign-off section for signatures of key project stakeholders</a:t>
            </a:r>
          </a:p>
          <a:p>
            <a:pPr lvl="0"/>
            <a:r>
              <a:rPr lang="en-US" sz="2800" dirty="0"/>
              <a:t>A comments section in which stakeholders can provide important comments related to the project</a:t>
            </a:r>
          </a:p>
        </p:txBody>
      </p:sp>
      <p:sp>
        <p:nvSpPr>
          <p:cNvPr id="3" name="Slide Number Placeholder 2"/>
          <p:cNvSpPr>
            <a:spLocks noGrp="1"/>
          </p:cNvSpPr>
          <p:nvPr>
            <p:ph type="sldNum" sz="quarter" idx="12"/>
          </p:nvPr>
        </p:nvSpPr>
        <p:spPr/>
        <p:txBody>
          <a:bodyPr/>
          <a:lstStyle/>
          <a:p>
            <a:pPr>
              <a:defRPr/>
            </a:pPr>
            <a:fld id="{7D50B42D-15A3-498E-9545-76378AC2C625}" type="slidenum">
              <a:rPr lang="en-US" smtClean="0"/>
              <a:pPr>
                <a:defRPr/>
              </a:pPr>
              <a:t>31</a:t>
            </a:fld>
            <a:endParaRPr lang="en-US" dirty="0"/>
          </a:p>
        </p:txBody>
      </p:sp>
      <p:sp>
        <p:nvSpPr>
          <p:cNvPr id="4" name="Title 3"/>
          <p:cNvSpPr>
            <a:spLocks noGrp="1"/>
          </p:cNvSpPr>
          <p:nvPr>
            <p:ph type="title"/>
          </p:nvPr>
        </p:nvSpPr>
        <p:spPr/>
        <p:txBody>
          <a:bodyPr>
            <a:normAutofit fontScale="90000"/>
          </a:bodyPr>
          <a:lstStyle/>
          <a:p>
            <a:r>
              <a:rPr lang="en-US" dirty="0"/>
              <a:t>Contents of a Project Charter (continued)</a:t>
            </a:r>
          </a:p>
        </p:txBody>
      </p:sp>
    </p:spTree>
    <p:extLst>
      <p:ext uri="{BB962C8B-B14F-4D97-AF65-F5344CB8AC3E}">
        <p14:creationId xmlns:p14="http://schemas.microsoft.com/office/powerpoint/2010/main" val="656420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0"/>
            <a:ext cx="8229600" cy="639762"/>
          </a:xfrm>
        </p:spPr>
        <p:txBody>
          <a:bodyPr>
            <a:normAutofit fontScale="90000"/>
          </a:bodyPr>
          <a:lstStyle/>
          <a:p>
            <a:pPr eaLnBrk="1" hangingPunct="1">
              <a:defRPr/>
            </a:pPr>
            <a:r>
              <a:rPr lang="en-US" dirty="0"/>
              <a:t>Figure 3-16. Sample Project Charter</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32</a:t>
            </a:fld>
            <a:endParaRPr lang="en-US" sz="1600" dirty="0">
              <a:latin typeface="Arial Unicode MS" pitchFamily="34" charset="-128"/>
              <a:ea typeface="Arial Unicode MS" pitchFamily="34" charset="-128"/>
              <a:cs typeface="Arial Unicode MS" pitchFamily="34" charset="-128"/>
            </a:endParaRPr>
          </a:p>
        </p:txBody>
      </p:sp>
      <p:graphicFrame>
        <p:nvGraphicFramePr>
          <p:cNvPr id="4" name="Table 3"/>
          <p:cNvGraphicFramePr>
            <a:graphicFrameLocks noGrp="1"/>
          </p:cNvGraphicFramePr>
          <p:nvPr>
            <p:extLst>
              <p:ext uri="{D42A27DB-BD31-4B8C-83A1-F6EECF244321}">
                <p14:modId xmlns:p14="http://schemas.microsoft.com/office/powerpoint/2010/main" val="2533726505"/>
              </p:ext>
            </p:extLst>
          </p:nvPr>
        </p:nvGraphicFramePr>
        <p:xfrm>
          <a:off x="838200" y="914400"/>
          <a:ext cx="7391400" cy="4876801"/>
        </p:xfrm>
        <a:graphic>
          <a:graphicData uri="http://schemas.openxmlformats.org/drawingml/2006/table">
            <a:tbl>
              <a:tblPr firstRow="1" firstCol="1" lastRow="1" lastCol="1" bandRow="1" bandCol="1"/>
              <a:tblGrid>
                <a:gridCol w="7391400">
                  <a:extLst>
                    <a:ext uri="{9D8B030D-6E8A-4147-A177-3AD203B41FA5}">
                      <a16:colId xmlns:a16="http://schemas.microsoft.com/office/drawing/2014/main" val="20000"/>
                    </a:ext>
                  </a:extLst>
                </a:gridCol>
              </a:tblGrid>
              <a:tr h="860612">
                <a:tc>
                  <a:txBody>
                    <a:bodyPr/>
                    <a:lstStyle/>
                    <a:p>
                      <a:pPr marL="0" marR="0">
                        <a:lnSpc>
                          <a:spcPct val="107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Project Title:</a:t>
                      </a:r>
                      <a:r>
                        <a:rPr lang="en-US" sz="1600" dirty="0">
                          <a:effectLst/>
                          <a:latin typeface="+mn-lt"/>
                          <a:ea typeface="Times New Roman" panose="02020603050405020304" pitchFamily="18" charset="0"/>
                          <a:cs typeface="Times New Roman" panose="02020603050405020304" pitchFamily="18" charset="0"/>
                        </a:rPr>
                        <a:t> Just-In-Time Training Project</a:t>
                      </a:r>
                    </a:p>
                    <a:p>
                      <a:pPr marL="0" marR="0">
                        <a:lnSpc>
                          <a:spcPct val="107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Project Start Date:</a:t>
                      </a:r>
                      <a:r>
                        <a:rPr lang="en-US" sz="1600" dirty="0">
                          <a:effectLst/>
                          <a:latin typeface="+mn-lt"/>
                          <a:ea typeface="Times New Roman" panose="02020603050405020304" pitchFamily="18" charset="0"/>
                          <a:cs typeface="Times New Roman" panose="02020603050405020304" pitchFamily="18" charset="0"/>
                        </a:rPr>
                        <a:t> July 1		</a:t>
                      </a:r>
                      <a:r>
                        <a:rPr lang="en-US" sz="1600" b="1" dirty="0">
                          <a:effectLst/>
                          <a:latin typeface="+mn-lt"/>
                          <a:ea typeface="Times New Roman" panose="02020603050405020304" pitchFamily="18" charset="0"/>
                          <a:cs typeface="Times New Roman" panose="02020603050405020304" pitchFamily="18" charset="0"/>
                        </a:rPr>
                        <a:t>Projected Finish Date:</a:t>
                      </a:r>
                      <a:r>
                        <a:rPr lang="en-US" sz="1600" dirty="0">
                          <a:effectLst/>
                          <a:latin typeface="+mn-lt"/>
                          <a:ea typeface="Times New Roman" panose="02020603050405020304" pitchFamily="18" charset="0"/>
                          <a:cs typeface="Times New Roman" panose="02020603050405020304" pitchFamily="18" charset="0"/>
                        </a:rPr>
                        <a:t> June 30 (one year later)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60612">
                <a:tc>
                  <a:txBody>
                    <a:bodyPr/>
                    <a:lstStyle/>
                    <a:p>
                      <a:pPr marL="0" marR="0">
                        <a:lnSpc>
                          <a:spcPct val="107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Budget Information: </a:t>
                      </a:r>
                      <a:r>
                        <a:rPr lang="en-US" sz="1600" dirty="0">
                          <a:effectLst/>
                          <a:latin typeface="+mn-lt"/>
                          <a:ea typeface="Times New Roman" panose="02020603050405020304" pitchFamily="18" charset="0"/>
                          <a:cs typeface="Times New Roman" panose="02020603050405020304" pitchFamily="18" charset="0"/>
                        </a:rPr>
                        <a:t>The firm has allocated $1,000,000 for this project. Approximately half of these costs will be for internal labor, while the other half will be for outsourced labor and training programs.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6871">
                <a:tc>
                  <a:txBody>
                    <a:bodyPr/>
                    <a:lstStyle/>
                    <a:p>
                      <a:pPr marL="0" marR="0">
                        <a:lnSpc>
                          <a:spcPct val="107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Project Manager:</a:t>
                      </a:r>
                      <a:r>
                        <a:rPr lang="en-US" sz="1600" dirty="0">
                          <a:effectLst/>
                          <a:latin typeface="+mn-lt"/>
                          <a:ea typeface="Times New Roman" panose="02020603050405020304" pitchFamily="18" charset="0"/>
                          <a:cs typeface="Times New Roman" panose="02020603050405020304" pitchFamily="18" charset="0"/>
                        </a:rPr>
                        <a:t> Kristin Maur, (610) 752-4896, </a:t>
                      </a:r>
                      <a:r>
                        <a:rPr lang="en-US" sz="1600" u="sng" dirty="0">
                          <a:solidFill>
                            <a:srgbClr val="0000FF"/>
                          </a:solidFill>
                          <a:effectLst/>
                          <a:latin typeface="+mn-lt"/>
                          <a:ea typeface="Times New Roman" panose="02020603050405020304" pitchFamily="18" charset="0"/>
                          <a:cs typeface="Times New Roman" panose="02020603050405020304" pitchFamily="18" charset="0"/>
                        </a:rPr>
                        <a:t>kmaur@globalconstruction.com</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34353">
                <a:tc>
                  <a:txBody>
                    <a:bodyPr/>
                    <a:lstStyle/>
                    <a:p>
                      <a:pPr marL="0" marR="0">
                        <a:lnSpc>
                          <a:spcPct val="107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Project Objectives:</a:t>
                      </a:r>
                      <a:r>
                        <a:rPr lang="en-US" sz="1600" dirty="0">
                          <a:effectLst/>
                          <a:latin typeface="+mn-lt"/>
                          <a:ea typeface="Times New Roman" panose="02020603050405020304" pitchFamily="18" charset="0"/>
                          <a:cs typeface="Times New Roman" panose="02020603050405020304" pitchFamily="18" charset="0"/>
                        </a:rPr>
                        <a:t> Develop a new training program that provides just-in-time training to employees on key topics, including supplier management, negotiating skills, project management, and software applications (spreadsheets and Web development). Develop an approach for measuring productivity improvements from this approach to training on an annual basis.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34353">
                <a:tc>
                  <a:txBody>
                    <a:bodyPr/>
                    <a:lstStyle/>
                    <a:p>
                      <a:pPr marL="0" marR="0">
                        <a:lnSpc>
                          <a:spcPct val="107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Success Criteria:</a:t>
                      </a:r>
                      <a:r>
                        <a:rPr lang="en-US" sz="1600" dirty="0">
                          <a:effectLst/>
                          <a:latin typeface="+mn-lt"/>
                          <a:ea typeface="Times New Roman" panose="02020603050405020304" pitchFamily="18" charset="0"/>
                          <a:cs typeface="Times New Roman" panose="02020603050405020304" pitchFamily="18" charset="0"/>
                        </a:rPr>
                        <a:t> This project will be successful if it reduces training cost per employee by 10% or $100/employee/year. It should also be completed on time, be run professionally, and meet all of the requirements. The project sponsor will fill out a customer acceptance/project completion form at the end of the project and give the project at least a 7 out of 10 overall rating.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40710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Approach section (partial)</a:t>
            </a:r>
          </a:p>
          <a:p>
            <a:pPr lvl="1"/>
            <a:r>
              <a:rPr lang="en-US" sz="2400" dirty="0"/>
              <a:t>Terminate all internal training courses except the Six Sigma training once new courses are developed</a:t>
            </a:r>
            <a:endParaRPr lang="en-US" sz="3600" dirty="0"/>
          </a:p>
          <a:p>
            <a:pPr lvl="1"/>
            <a:r>
              <a:rPr lang="en-US" sz="2400" dirty="0"/>
              <a:t>Communicate to all employees the plans to improve internal training and let them know that tuition reimbursement will continue as is.</a:t>
            </a:r>
            <a:endParaRPr lang="en-US" dirty="0"/>
          </a:p>
          <a:p>
            <a:r>
              <a:rPr lang="en-US" dirty="0"/>
              <a:t>Roles and Responsibilities</a:t>
            </a:r>
          </a:p>
          <a:p>
            <a:r>
              <a:rPr lang="en-US" dirty="0"/>
              <a:t>Comments (partial)</a:t>
            </a:r>
          </a:p>
          <a:p>
            <a:pPr lvl="1"/>
            <a:r>
              <a:rPr lang="en-US" dirty="0"/>
              <a:t> “I want to review all of the information related to providing the supplier management training. We need to make something available quickly.” Tim</a:t>
            </a:r>
          </a:p>
        </p:txBody>
      </p:sp>
      <p:sp>
        <p:nvSpPr>
          <p:cNvPr id="3" name="Slide Number Placeholder 2"/>
          <p:cNvSpPr>
            <a:spLocks noGrp="1"/>
          </p:cNvSpPr>
          <p:nvPr>
            <p:ph type="sldNum" sz="quarter" idx="12"/>
          </p:nvPr>
        </p:nvSpPr>
        <p:spPr/>
        <p:txBody>
          <a:bodyPr/>
          <a:lstStyle/>
          <a:p>
            <a:pPr>
              <a:defRPr/>
            </a:pPr>
            <a:fld id="{7D50B42D-15A3-498E-9545-76378AC2C625}" type="slidenum">
              <a:rPr lang="en-US" smtClean="0"/>
              <a:pPr>
                <a:defRPr/>
              </a:pPr>
              <a:t>33</a:t>
            </a:fld>
            <a:endParaRPr lang="en-US" dirty="0"/>
          </a:p>
        </p:txBody>
      </p:sp>
      <p:sp>
        <p:nvSpPr>
          <p:cNvPr id="4" name="Title 3"/>
          <p:cNvSpPr>
            <a:spLocks noGrp="1"/>
          </p:cNvSpPr>
          <p:nvPr>
            <p:ph type="title"/>
          </p:nvPr>
        </p:nvSpPr>
        <p:spPr/>
        <p:txBody>
          <a:bodyPr>
            <a:normAutofit fontScale="90000"/>
          </a:bodyPr>
          <a:lstStyle/>
          <a:p>
            <a:r>
              <a:rPr lang="en-US" dirty="0"/>
              <a:t>Figure 3-16. Sample Project Charter (continued)</a:t>
            </a:r>
          </a:p>
        </p:txBody>
      </p:sp>
    </p:spTree>
    <p:extLst>
      <p:ext uri="{BB962C8B-B14F-4D97-AF65-F5344CB8AC3E}">
        <p14:creationId xmlns:p14="http://schemas.microsoft.com/office/powerpoint/2010/main" val="1735091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a:xfrm>
            <a:off x="457200" y="0"/>
            <a:ext cx="8229600" cy="838200"/>
          </a:xfrm>
        </p:spPr>
        <p:txBody>
          <a:bodyPr>
            <a:normAutofit/>
          </a:bodyPr>
          <a:lstStyle/>
          <a:p>
            <a:pPr eaLnBrk="1" hangingPunct="1">
              <a:defRPr/>
            </a:pPr>
            <a:r>
              <a:rPr lang="en-US" dirty="0"/>
              <a:t>Contents of An Assumptions Log</a:t>
            </a:r>
          </a:p>
        </p:txBody>
      </p:sp>
      <p:sp>
        <p:nvSpPr>
          <p:cNvPr id="48131" name="Rectangle 3"/>
          <p:cNvSpPr>
            <a:spLocks noGrp="1" noChangeArrowheads="1"/>
          </p:cNvSpPr>
          <p:nvPr>
            <p:ph type="body" idx="1"/>
          </p:nvPr>
        </p:nvSpPr>
        <p:spPr>
          <a:xfrm>
            <a:off x="152400" y="990600"/>
            <a:ext cx="8713787" cy="5334000"/>
          </a:xfrm>
        </p:spPr>
        <p:txBody>
          <a:bodyPr>
            <a:normAutofit/>
          </a:bodyPr>
          <a:lstStyle/>
          <a:p>
            <a:r>
              <a:rPr lang="en-US" sz="2400" dirty="0"/>
              <a:t>An assumption log is a document used to record and track assumptions and constraints throughout the project life cycle. </a:t>
            </a:r>
          </a:p>
          <a:p>
            <a:r>
              <a:rPr lang="en-US" sz="2400" dirty="0"/>
              <a:t>It aids in communicating information to key stakeholders and avoids potential confusion.</a:t>
            </a:r>
          </a:p>
          <a:p>
            <a:r>
              <a:rPr lang="en-US" sz="2400" dirty="0"/>
              <a:t>Most projects include several assumptions that affect the scope, time, cost, risk, and other knowledge areas. </a:t>
            </a:r>
          </a:p>
          <a:p>
            <a:r>
              <a:rPr lang="en-US" sz="2400" dirty="0"/>
              <a:t>It is important to document and validate these assumptions. </a:t>
            </a:r>
          </a:p>
          <a:p>
            <a:pPr eaLnBrk="1" hangingPunct="1">
              <a:lnSpc>
                <a:spcPct val="80000"/>
              </a:lnSpc>
            </a:pPr>
            <a:endParaRPr lang="en-US" sz="2400"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34</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5822757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7D50B42D-15A3-498E-9545-76378AC2C625}" type="slidenum">
              <a:rPr lang="en-US" smtClean="0"/>
              <a:pPr>
                <a:defRPr/>
              </a:pPr>
              <a:t>35</a:t>
            </a:fld>
            <a:endParaRPr lang="en-US" dirty="0"/>
          </a:p>
        </p:txBody>
      </p:sp>
      <p:sp>
        <p:nvSpPr>
          <p:cNvPr id="4" name="Title 3"/>
          <p:cNvSpPr>
            <a:spLocks noGrp="1"/>
          </p:cNvSpPr>
          <p:nvPr>
            <p:ph type="title"/>
          </p:nvPr>
        </p:nvSpPr>
        <p:spPr>
          <a:xfrm>
            <a:off x="304800" y="274638"/>
            <a:ext cx="8763000" cy="1143000"/>
          </a:xfrm>
        </p:spPr>
        <p:txBody>
          <a:bodyPr>
            <a:normAutofit fontScale="90000"/>
          </a:bodyPr>
          <a:lstStyle/>
          <a:p>
            <a:r>
              <a:rPr lang="en-US" dirty="0"/>
              <a:t>Figure 3-17. Sample Assumptions Log</a:t>
            </a:r>
          </a:p>
        </p:txBody>
      </p:sp>
      <p:graphicFrame>
        <p:nvGraphicFramePr>
          <p:cNvPr id="5" name="Table 4"/>
          <p:cNvGraphicFramePr>
            <a:graphicFrameLocks noGrp="1"/>
          </p:cNvGraphicFramePr>
          <p:nvPr>
            <p:extLst>
              <p:ext uri="{D42A27DB-BD31-4B8C-83A1-F6EECF244321}">
                <p14:modId xmlns:p14="http://schemas.microsoft.com/office/powerpoint/2010/main" val="698402371"/>
              </p:ext>
            </p:extLst>
          </p:nvPr>
        </p:nvGraphicFramePr>
        <p:xfrm>
          <a:off x="838200" y="1417638"/>
          <a:ext cx="7696199" cy="3992561"/>
        </p:xfrm>
        <a:graphic>
          <a:graphicData uri="http://schemas.openxmlformats.org/drawingml/2006/table">
            <a:tbl>
              <a:tblPr firstRow="1" firstCol="1" bandRow="1">
                <a:tableStyleId>{5C22544A-7EE6-4342-B048-85BDC9FD1C3A}</a:tableStyleId>
              </a:tblPr>
              <a:tblGrid>
                <a:gridCol w="674774">
                  <a:extLst>
                    <a:ext uri="{9D8B030D-6E8A-4147-A177-3AD203B41FA5}">
                      <a16:colId xmlns:a16="http://schemas.microsoft.com/office/drawing/2014/main" val="20000"/>
                    </a:ext>
                  </a:extLst>
                </a:gridCol>
                <a:gridCol w="2096046">
                  <a:extLst>
                    <a:ext uri="{9D8B030D-6E8A-4147-A177-3AD203B41FA5}">
                      <a16:colId xmlns:a16="http://schemas.microsoft.com/office/drawing/2014/main" val="20001"/>
                    </a:ext>
                  </a:extLst>
                </a:gridCol>
                <a:gridCol w="961671">
                  <a:extLst>
                    <a:ext uri="{9D8B030D-6E8A-4147-A177-3AD203B41FA5}">
                      <a16:colId xmlns:a16="http://schemas.microsoft.com/office/drawing/2014/main" val="20002"/>
                    </a:ext>
                  </a:extLst>
                </a:gridCol>
                <a:gridCol w="1019240">
                  <a:extLst>
                    <a:ext uri="{9D8B030D-6E8A-4147-A177-3AD203B41FA5}">
                      <a16:colId xmlns:a16="http://schemas.microsoft.com/office/drawing/2014/main" val="20003"/>
                    </a:ext>
                  </a:extLst>
                </a:gridCol>
                <a:gridCol w="773866">
                  <a:extLst>
                    <a:ext uri="{9D8B030D-6E8A-4147-A177-3AD203B41FA5}">
                      <a16:colId xmlns:a16="http://schemas.microsoft.com/office/drawing/2014/main" val="20004"/>
                    </a:ext>
                  </a:extLst>
                </a:gridCol>
                <a:gridCol w="755936">
                  <a:extLst>
                    <a:ext uri="{9D8B030D-6E8A-4147-A177-3AD203B41FA5}">
                      <a16:colId xmlns:a16="http://schemas.microsoft.com/office/drawing/2014/main" val="20005"/>
                    </a:ext>
                  </a:extLst>
                </a:gridCol>
                <a:gridCol w="1414666">
                  <a:extLst>
                    <a:ext uri="{9D8B030D-6E8A-4147-A177-3AD203B41FA5}">
                      <a16:colId xmlns:a16="http://schemas.microsoft.com/office/drawing/2014/main" val="20006"/>
                    </a:ext>
                  </a:extLst>
                </a:gridCol>
              </a:tblGrid>
              <a:tr h="870857">
                <a:tc>
                  <a:txBody>
                    <a:bodyPr/>
                    <a:lstStyle/>
                    <a:p>
                      <a:pPr marL="0" marR="0">
                        <a:lnSpc>
                          <a:spcPct val="150000"/>
                        </a:lnSpc>
                        <a:spcBef>
                          <a:spcPts val="600"/>
                        </a:spcBef>
                        <a:spcAft>
                          <a:spcPts val="0"/>
                        </a:spcAft>
                      </a:pPr>
                      <a:r>
                        <a:rPr lang="en-US" sz="1600" dirty="0">
                          <a:effectLst/>
                          <a:latin typeface="+mn-lt"/>
                        </a:rPr>
                        <a:t>ID</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Assumption Description</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Category</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Owner</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Due Date</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Status</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Actions</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330854">
                <a:tc>
                  <a:txBody>
                    <a:bodyPr/>
                    <a:lstStyle/>
                    <a:p>
                      <a:pPr marL="0" marR="0">
                        <a:lnSpc>
                          <a:spcPct val="150000"/>
                        </a:lnSpc>
                        <a:spcBef>
                          <a:spcPts val="600"/>
                        </a:spcBef>
                        <a:spcAft>
                          <a:spcPts val="0"/>
                        </a:spcAft>
                      </a:pPr>
                      <a:r>
                        <a:rPr lang="en-US" sz="1600" dirty="0">
                          <a:effectLst/>
                          <a:latin typeface="+mn-lt"/>
                        </a:rPr>
                        <a:t>108</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Shipping of materials will only take 2 days</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Time</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Kristin</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Sep. 1</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Closed</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Require 2-day shipping</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790850">
                <a:tc>
                  <a:txBody>
                    <a:bodyPr/>
                    <a:lstStyle/>
                    <a:p>
                      <a:pPr marL="0" marR="0">
                        <a:lnSpc>
                          <a:spcPct val="150000"/>
                        </a:lnSpc>
                        <a:spcBef>
                          <a:spcPts val="600"/>
                        </a:spcBef>
                        <a:spcAft>
                          <a:spcPts val="0"/>
                        </a:spcAft>
                      </a:pPr>
                      <a:r>
                        <a:rPr lang="en-US" sz="1600" dirty="0">
                          <a:effectLst/>
                          <a:latin typeface="+mn-lt"/>
                        </a:rPr>
                        <a:t>122</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Employees will take some of the training during non-work hours</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Human resources</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Lucy</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Nov. 1</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Open</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600"/>
                        </a:spcBef>
                        <a:spcAft>
                          <a:spcPts val="0"/>
                        </a:spcAft>
                      </a:pPr>
                      <a:r>
                        <a:rPr lang="en-US" sz="1600" dirty="0">
                          <a:effectLst/>
                          <a:latin typeface="+mn-lt"/>
                        </a:rPr>
                        <a:t>Meet with dept. heads to discuss </a:t>
                      </a:r>
                      <a:endParaRPr lang="en-US" sz="16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04126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457200" y="274638"/>
            <a:ext cx="8229600" cy="563562"/>
          </a:xfrm>
        </p:spPr>
        <p:txBody>
          <a:bodyPr>
            <a:normAutofit fontScale="90000"/>
          </a:bodyPr>
          <a:lstStyle/>
          <a:p>
            <a:pPr eaLnBrk="1" hangingPunct="1">
              <a:defRPr/>
            </a:pPr>
            <a:r>
              <a:rPr lang="en-US" dirty="0"/>
              <a:t>Holding a Project Kick-off Meeting</a:t>
            </a:r>
          </a:p>
        </p:txBody>
      </p:sp>
      <p:sp>
        <p:nvSpPr>
          <p:cNvPr id="49155" name="Rectangle 3"/>
          <p:cNvSpPr>
            <a:spLocks noGrp="1" noChangeArrowheads="1"/>
          </p:cNvSpPr>
          <p:nvPr>
            <p:ph type="body" idx="1"/>
          </p:nvPr>
        </p:nvSpPr>
        <p:spPr>
          <a:xfrm>
            <a:off x="381000" y="1066800"/>
            <a:ext cx="8763000" cy="5029200"/>
          </a:xfrm>
        </p:spPr>
        <p:txBody>
          <a:bodyPr>
            <a:normAutofit fontScale="92500"/>
          </a:bodyPr>
          <a:lstStyle/>
          <a:p>
            <a:pPr eaLnBrk="1" hangingPunct="1"/>
            <a:r>
              <a:rPr lang="en-US" sz="2400" dirty="0"/>
              <a:t>Experienced project managers know that it is crucial to get projects off to a great start.</a:t>
            </a:r>
          </a:p>
          <a:p>
            <a:r>
              <a:rPr lang="en-US" sz="2400" dirty="0"/>
              <a:t>A </a:t>
            </a:r>
            <a:r>
              <a:rPr lang="en-US" sz="2400" b="1" dirty="0"/>
              <a:t>kick-off meeting </a:t>
            </a:r>
            <a:r>
              <a:rPr lang="en-US" sz="2400" dirty="0"/>
              <a:t>is a meeting held at the beginning of a project so that stakeholders can meet each other, review the goals of the project, and discuss future plans. Note that </a:t>
            </a:r>
            <a:r>
              <a:rPr lang="en-US" sz="2400" i="1" dirty="0"/>
              <a:t>the PMBOK</a:t>
            </a:r>
            <a:r>
              <a:rPr lang="en-US" sz="2400" i="1" baseline="30000" dirty="0"/>
              <a:t>®</a:t>
            </a:r>
            <a:r>
              <a:rPr lang="en-US" sz="2400" i="1" dirty="0"/>
              <a:t> Guide – Sixth Edition</a:t>
            </a:r>
            <a:r>
              <a:rPr lang="en-US" sz="2400" dirty="0"/>
              <a:t>, suggests that the kick-off meeting be held during the end of the planning or start of the executing process group. In the author’s experience, it is best hold it earlier. </a:t>
            </a:r>
          </a:p>
          <a:p>
            <a:pPr eaLnBrk="1" hangingPunct="1"/>
            <a:r>
              <a:rPr lang="en-US" sz="2400" dirty="0"/>
              <a:t>The project champion should speak first and introduce the project sponsor and project manager</a:t>
            </a:r>
          </a:p>
          <a:p>
            <a:pPr eaLnBrk="1" hangingPunct="1"/>
            <a:r>
              <a:rPr lang="en-US" sz="2400" dirty="0"/>
              <a:t>There is often a fair amount of work is done to prepare for the meeting.</a:t>
            </a:r>
          </a:p>
          <a:p>
            <a:pPr eaLnBrk="1" hangingPunct="1"/>
            <a:r>
              <a:rPr lang="en-US" sz="2400" dirty="0"/>
              <a:t>If it cannot be held face-to-face, try to include audio and/or video to engage and understand participants.</a:t>
            </a:r>
          </a:p>
          <a:p>
            <a:pPr eaLnBrk="1" hangingPunct="1"/>
            <a:endParaRPr lang="en-US" dirty="0"/>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36</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312866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a:xfrm>
            <a:off x="0" y="0"/>
            <a:ext cx="9144000" cy="762000"/>
          </a:xfrm>
        </p:spPr>
        <p:txBody>
          <a:bodyPr/>
          <a:lstStyle/>
          <a:p>
            <a:pPr eaLnBrk="1" hangingPunct="1">
              <a:defRPr/>
            </a:pPr>
            <a:r>
              <a:rPr lang="en-US" sz="3200" dirty="0"/>
              <a:t>Figure 3-18. Sample Kick-Off Meeting Agenda</a:t>
            </a:r>
          </a:p>
        </p:txBody>
      </p:sp>
      <p:graphicFrame>
        <p:nvGraphicFramePr>
          <p:cNvPr id="6" name="Table 5"/>
          <p:cNvGraphicFramePr>
            <a:graphicFrameLocks noGrp="1"/>
          </p:cNvGraphicFramePr>
          <p:nvPr>
            <p:extLst>
              <p:ext uri="{D42A27DB-BD31-4B8C-83A1-F6EECF244321}">
                <p14:modId xmlns:p14="http://schemas.microsoft.com/office/powerpoint/2010/main" val="1933259277"/>
              </p:ext>
            </p:extLst>
          </p:nvPr>
        </p:nvGraphicFramePr>
        <p:xfrm>
          <a:off x="381000" y="4419600"/>
          <a:ext cx="7848600" cy="1143000"/>
        </p:xfrm>
        <a:graphic>
          <a:graphicData uri="http://schemas.openxmlformats.org/drawingml/2006/table">
            <a:tbl>
              <a:tblPr/>
              <a:tblGrid>
                <a:gridCol w="2616200">
                  <a:extLst>
                    <a:ext uri="{9D8B030D-6E8A-4147-A177-3AD203B41FA5}">
                      <a16:colId xmlns:a16="http://schemas.microsoft.com/office/drawing/2014/main" val="20000"/>
                    </a:ext>
                  </a:extLst>
                </a:gridCol>
                <a:gridCol w="2616200">
                  <a:extLst>
                    <a:ext uri="{9D8B030D-6E8A-4147-A177-3AD203B41FA5}">
                      <a16:colId xmlns:a16="http://schemas.microsoft.com/office/drawing/2014/main" val="20001"/>
                    </a:ext>
                  </a:extLst>
                </a:gridCol>
                <a:gridCol w="2616200">
                  <a:extLst>
                    <a:ext uri="{9D8B030D-6E8A-4147-A177-3AD203B41FA5}">
                      <a16:colId xmlns:a16="http://schemas.microsoft.com/office/drawing/2014/main" val="20002"/>
                    </a:ext>
                  </a:extLst>
                </a:gridCol>
              </a:tblGrid>
              <a:tr h="285750">
                <a:tc>
                  <a:txBody>
                    <a:bodyPr/>
                    <a:lstStyle/>
                    <a:p>
                      <a:pPr marL="0" marR="0">
                        <a:spcBef>
                          <a:spcPts val="0"/>
                        </a:spcBef>
                        <a:spcAft>
                          <a:spcPts val="0"/>
                        </a:spcAft>
                      </a:pPr>
                      <a:r>
                        <a:rPr lang="en-US" sz="1400" b="1" dirty="0">
                          <a:latin typeface="Times New Roman" pitchFamily="18" charset="0"/>
                          <a:ea typeface="Times New Roman"/>
                          <a:cs typeface="Times New Roman" pitchFamily="18" charset="0"/>
                        </a:rPr>
                        <a:t>Action Item</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latin typeface="Times New Roman" pitchFamily="18" charset="0"/>
                          <a:ea typeface="Times New Roman"/>
                          <a:cs typeface="Times New Roman" pitchFamily="18" charset="0"/>
                        </a:rPr>
                        <a:t>Assigned To</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latin typeface="Times New Roman" pitchFamily="18" charset="0"/>
                          <a:ea typeface="Times New Roman"/>
                          <a:cs typeface="Times New Roman" pitchFamily="18" charset="0"/>
                        </a:rPr>
                        <a:t>Due Date</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5750">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5750">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750">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0182" name="Rectangle 6"/>
          <p:cNvSpPr>
            <a:spLocks noChangeArrowheads="1"/>
          </p:cNvSpPr>
          <p:nvPr/>
        </p:nvSpPr>
        <p:spPr bwMode="auto">
          <a:xfrm>
            <a:off x="304800" y="762000"/>
            <a:ext cx="8534400" cy="4250394"/>
          </a:xfrm>
          <a:prstGeom prst="rect">
            <a:avLst/>
          </a:prstGeom>
          <a:noFill/>
          <a:ln w="9525" cap="flat" cmpd="sng" algn="ctr">
            <a:noFill/>
            <a:prstDash val="solid"/>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90000"/>
              </a:lnSpc>
              <a:spcBef>
                <a:spcPct val="20000"/>
              </a:spcBef>
              <a:spcAft>
                <a:spcPct val="0"/>
              </a:spcAft>
              <a:buClrTx/>
              <a:buSz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Just-In-Time Training Project</a:t>
            </a:r>
            <a:endParaRPr kumimoji="0" lang="en-US" sz="1800" b="0" i="0" u="none" strike="noStrike" cap="none" normalizeH="0" baseline="0" dirty="0">
              <a:ln>
                <a:noFill/>
              </a:ln>
              <a:solidFill>
                <a:schemeClr val="tx1"/>
              </a:solidFill>
              <a:effectLst/>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Kick-off Meeting</a:t>
            </a:r>
            <a:endParaRPr kumimoji="0" lang="en-US" sz="1800" b="0" i="0" u="none" strike="noStrike" cap="none" normalizeH="0" baseline="0" dirty="0">
              <a:ln>
                <a:noFill/>
              </a:ln>
              <a:solidFill>
                <a:schemeClr val="tx1"/>
              </a:solidFill>
              <a:effectLst/>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July 16</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Meeting Objective</a:t>
            </a:r>
            <a:r>
              <a:rPr kumimoji="0" lang="en-AU" sz="1800" b="0" i="0" u="none" strike="noStrike" cap="none" normalizeH="0" baseline="0" dirty="0">
                <a:ln>
                  <a:noFill/>
                </a:ln>
                <a:solidFill>
                  <a:schemeClr val="tx1"/>
                </a:solidFill>
                <a:effectLst/>
                <a:ea typeface="Times New Roman" pitchFamily="18" charset="0"/>
                <a:cs typeface="Times New Roman" pitchFamily="18" charset="0"/>
              </a:rPr>
              <a:t>: Get the project off to an effective start by introducing key stakeholders, reviewing project goals, and discussing future plans </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Agenda:</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Introductions of attendees</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Review of the project background </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Review of project-related documents (i.e., business case, project charter, assumptions log)</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Discussion of project organizational structure</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Discussion of project scope, time, and cost goals</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Discussion of other important topics</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List of action items from meeting</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8" name="Rectangle 7"/>
          <p:cNvSpPr/>
          <p:nvPr/>
        </p:nvSpPr>
        <p:spPr>
          <a:xfrm>
            <a:off x="304800" y="5562600"/>
            <a:ext cx="4572000" cy="341632"/>
          </a:xfrm>
          <a:prstGeom prst="rect">
            <a:avLst/>
          </a:prstGeom>
        </p:spPr>
        <p:txBody>
          <a:bodyPr>
            <a:spAutoFit/>
          </a:bodyPr>
          <a:lstStyle/>
          <a:p>
            <a:pPr>
              <a:buNone/>
            </a:pPr>
            <a:r>
              <a:rPr lang="en-US" sz="1800" b="1" dirty="0">
                <a:ea typeface="Times New Roman" pitchFamily="18" charset="0"/>
                <a:cs typeface="Times New Roman" pitchFamily="18" charset="0"/>
              </a:rPr>
              <a:t>Date and time of next meeting:</a:t>
            </a:r>
          </a:p>
        </p:txBody>
      </p:sp>
      <p:sp>
        <p:nvSpPr>
          <p:cNvPr id="7"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37</a:t>
            </a:fld>
            <a:endParaRPr lang="en-US" sz="1600" dirty="0">
              <a:latin typeface="Arial Unicode MS" pitchFamily="34" charset="-128"/>
              <a:ea typeface="Arial Unicode MS" pitchFamily="34" charset="-128"/>
              <a:cs typeface="Arial Unicode MS" pitchFamily="34" charset="-128"/>
            </a:endParaRPr>
          </a:p>
        </p:txBody>
      </p:sp>
      <p:graphicFrame>
        <p:nvGraphicFramePr>
          <p:cNvPr id="9" name="Table 8"/>
          <p:cNvGraphicFramePr>
            <a:graphicFrameLocks noGrp="1"/>
          </p:cNvGraphicFramePr>
          <p:nvPr>
            <p:extLst>
              <p:ext uri="{D42A27DB-BD31-4B8C-83A1-F6EECF244321}">
                <p14:modId xmlns:p14="http://schemas.microsoft.com/office/powerpoint/2010/main" val="1933259277"/>
              </p:ext>
            </p:extLst>
          </p:nvPr>
        </p:nvGraphicFramePr>
        <p:xfrm>
          <a:off x="381000" y="4407920"/>
          <a:ext cx="7848600" cy="1143000"/>
        </p:xfrm>
        <a:graphic>
          <a:graphicData uri="http://schemas.openxmlformats.org/drawingml/2006/table">
            <a:tbl>
              <a:tblPr/>
              <a:tblGrid>
                <a:gridCol w="2616200">
                  <a:extLst>
                    <a:ext uri="{9D8B030D-6E8A-4147-A177-3AD203B41FA5}">
                      <a16:colId xmlns:a16="http://schemas.microsoft.com/office/drawing/2014/main" val="20000"/>
                    </a:ext>
                  </a:extLst>
                </a:gridCol>
                <a:gridCol w="2616200">
                  <a:extLst>
                    <a:ext uri="{9D8B030D-6E8A-4147-A177-3AD203B41FA5}">
                      <a16:colId xmlns:a16="http://schemas.microsoft.com/office/drawing/2014/main" val="20001"/>
                    </a:ext>
                  </a:extLst>
                </a:gridCol>
                <a:gridCol w="2616200">
                  <a:extLst>
                    <a:ext uri="{9D8B030D-6E8A-4147-A177-3AD203B41FA5}">
                      <a16:colId xmlns:a16="http://schemas.microsoft.com/office/drawing/2014/main" val="20002"/>
                    </a:ext>
                  </a:extLst>
                </a:gridCol>
              </a:tblGrid>
              <a:tr h="285750">
                <a:tc>
                  <a:txBody>
                    <a:bodyPr/>
                    <a:lstStyle/>
                    <a:p>
                      <a:pPr marL="0" marR="0">
                        <a:spcBef>
                          <a:spcPts val="0"/>
                        </a:spcBef>
                        <a:spcAft>
                          <a:spcPts val="0"/>
                        </a:spcAft>
                      </a:pPr>
                      <a:r>
                        <a:rPr lang="en-US" sz="1400" b="1" dirty="0">
                          <a:latin typeface="Times New Roman" pitchFamily="18" charset="0"/>
                          <a:ea typeface="Times New Roman"/>
                          <a:cs typeface="Times New Roman" pitchFamily="18" charset="0"/>
                        </a:rPr>
                        <a:t>Action Item</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latin typeface="Times New Roman" pitchFamily="18" charset="0"/>
                          <a:ea typeface="Times New Roman"/>
                          <a:cs typeface="Times New Roman" pitchFamily="18" charset="0"/>
                        </a:rPr>
                        <a:t>Assigned To</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latin typeface="Times New Roman" pitchFamily="18" charset="0"/>
                          <a:ea typeface="Times New Roman"/>
                          <a:cs typeface="Times New Roman" pitchFamily="18" charset="0"/>
                        </a:rPr>
                        <a:t>Due Date</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5750">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5750">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750">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100" dirty="0">
                        <a:latin typeface="New York"/>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Rectangle 6"/>
          <p:cNvSpPr>
            <a:spLocks noChangeArrowheads="1"/>
          </p:cNvSpPr>
          <p:nvPr/>
        </p:nvSpPr>
        <p:spPr bwMode="auto">
          <a:xfrm>
            <a:off x="304800" y="750320"/>
            <a:ext cx="8534400" cy="4250394"/>
          </a:xfrm>
          <a:prstGeom prst="rect">
            <a:avLst/>
          </a:prstGeom>
          <a:noFill/>
          <a:ln w="9525" cap="flat" cmpd="sng" algn="ctr">
            <a:noFill/>
            <a:prstDash val="solid"/>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90000"/>
              </a:lnSpc>
              <a:spcBef>
                <a:spcPct val="20000"/>
              </a:spcBef>
              <a:spcAft>
                <a:spcPct val="0"/>
              </a:spcAft>
              <a:buClrTx/>
              <a:buSz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Just-In-Time Training Project</a:t>
            </a:r>
            <a:endParaRPr kumimoji="0" lang="en-US" sz="1800" b="0" i="0" u="none" strike="noStrike" cap="none" normalizeH="0" baseline="0" dirty="0">
              <a:ln>
                <a:noFill/>
              </a:ln>
              <a:solidFill>
                <a:schemeClr val="tx1"/>
              </a:solidFill>
              <a:effectLst/>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Kick-off Meeting</a:t>
            </a:r>
            <a:endParaRPr kumimoji="0" lang="en-US" sz="1800" b="0" i="0" u="none" strike="noStrike" cap="none" normalizeH="0" baseline="0" dirty="0">
              <a:ln>
                <a:noFill/>
              </a:ln>
              <a:solidFill>
                <a:schemeClr val="tx1"/>
              </a:solidFill>
              <a:effectLst/>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July 16</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Meeting Objective</a:t>
            </a:r>
            <a:r>
              <a:rPr kumimoji="0" lang="en-AU" sz="1800" b="0" i="0" u="none" strike="noStrike" cap="none" normalizeH="0" baseline="0" dirty="0">
                <a:ln>
                  <a:noFill/>
                </a:ln>
                <a:solidFill>
                  <a:schemeClr val="tx1"/>
                </a:solidFill>
                <a:effectLst/>
                <a:ea typeface="Times New Roman" pitchFamily="18" charset="0"/>
                <a:cs typeface="Times New Roman" pitchFamily="18" charset="0"/>
              </a:rPr>
              <a:t>: Get the project off to an effective start by introducing key stakeholders, reviewing project goals, and discussing future plans </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1800" b="1" i="0" u="none" strike="noStrike" cap="none" normalizeH="0" baseline="0" dirty="0">
                <a:ln>
                  <a:noFill/>
                </a:ln>
                <a:solidFill>
                  <a:schemeClr val="tx1"/>
                </a:solidFill>
                <a:effectLst/>
                <a:ea typeface="Times New Roman" pitchFamily="18" charset="0"/>
                <a:cs typeface="Times New Roman" pitchFamily="18" charset="0"/>
              </a:rPr>
              <a:t>Agenda:</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Introductions of attendees</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Review of the project background </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Review of project-related documents (i.e., business case, project charter, assumptions log)</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Discussion of project organizational structure</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Discussion of project scope, time, and cost goals</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Discussion of other important topics</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ea typeface="Times New Roman" pitchFamily="18" charset="0"/>
                <a:cs typeface="Times New Roman" pitchFamily="18" charset="0"/>
              </a:rPr>
              <a:t>List of action items from meeting</a:t>
            </a:r>
            <a:endParaRPr kumimoji="0" lang="en-US" sz="1800" b="0" i="0" u="none" strike="noStrike" cap="none" normalizeH="0" baseline="0" dirty="0">
              <a:ln>
                <a:noFill/>
              </a:ln>
              <a:solidFill>
                <a:schemeClr val="tx1"/>
              </a:solidFill>
              <a:effectLs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1" name="Rectangle 10"/>
          <p:cNvSpPr/>
          <p:nvPr/>
        </p:nvSpPr>
        <p:spPr>
          <a:xfrm>
            <a:off x="304800" y="5550920"/>
            <a:ext cx="4572000" cy="341632"/>
          </a:xfrm>
          <a:prstGeom prst="rect">
            <a:avLst/>
          </a:prstGeom>
        </p:spPr>
        <p:txBody>
          <a:bodyPr>
            <a:spAutoFit/>
          </a:bodyPr>
          <a:lstStyle/>
          <a:p>
            <a:pPr>
              <a:buNone/>
            </a:pPr>
            <a:r>
              <a:rPr lang="en-US" sz="1800" b="1" dirty="0">
                <a:ea typeface="Times New Roman" pitchFamily="18" charset="0"/>
                <a:cs typeface="Times New Roman" pitchFamily="18" charset="0"/>
              </a:rPr>
              <a:t>Date and time of next meeting:</a:t>
            </a:r>
          </a:p>
        </p:txBody>
      </p:sp>
    </p:spTree>
    <p:extLst>
      <p:ext uri="{BB962C8B-B14F-4D97-AF65-F5344CB8AC3E}">
        <p14:creationId xmlns:p14="http://schemas.microsoft.com/office/powerpoint/2010/main" val="655784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9CCA3C-A1E4-4955-91F0-8B4EE7E91F73}"/>
              </a:ext>
            </a:extLst>
          </p:cNvPr>
          <p:cNvSpPr>
            <a:spLocks noGrp="1"/>
          </p:cNvSpPr>
          <p:nvPr>
            <p:ph idx="1"/>
          </p:nvPr>
        </p:nvSpPr>
        <p:spPr/>
        <p:txBody>
          <a:bodyPr/>
          <a:lstStyle/>
          <a:p>
            <a:pPr marL="624078" indent="-514350">
              <a:buAutoNum type="arabicParenR"/>
            </a:pPr>
            <a:r>
              <a:rPr lang="en-AU" dirty="0"/>
              <a:t>Preparing a stakeholder register and performing a stakeholder analysis are part of which knowledge area?</a:t>
            </a:r>
          </a:p>
          <a:p>
            <a:pPr marL="624078" indent="-514350">
              <a:buAutoNum type="arabicParenR"/>
            </a:pPr>
            <a:r>
              <a:rPr lang="en-AU" dirty="0"/>
              <a:t>Which project document is used to record and track assumptions and constraints throughout the project </a:t>
            </a:r>
            <a:r>
              <a:rPr lang="en-AU"/>
              <a:t>life cycle?</a:t>
            </a:r>
          </a:p>
          <a:p>
            <a:pPr marL="109728" indent="0">
              <a:buNone/>
            </a:pPr>
            <a:endParaRPr lang="en-AU"/>
          </a:p>
          <a:p>
            <a:endParaRPr lang="en-AU" dirty="0"/>
          </a:p>
        </p:txBody>
      </p:sp>
      <p:sp>
        <p:nvSpPr>
          <p:cNvPr id="3" name="Slide Number Placeholder 2">
            <a:extLst>
              <a:ext uri="{FF2B5EF4-FFF2-40B4-BE49-F238E27FC236}">
                <a16:creationId xmlns:a16="http://schemas.microsoft.com/office/drawing/2014/main" id="{B564F897-47C6-4BD6-84BA-CA0A843F333F}"/>
              </a:ext>
            </a:extLst>
          </p:cNvPr>
          <p:cNvSpPr>
            <a:spLocks noGrp="1"/>
          </p:cNvSpPr>
          <p:nvPr>
            <p:ph type="sldNum" sz="quarter" idx="12"/>
          </p:nvPr>
        </p:nvSpPr>
        <p:spPr/>
        <p:txBody>
          <a:bodyPr/>
          <a:lstStyle/>
          <a:p>
            <a:pPr>
              <a:defRPr/>
            </a:pPr>
            <a:fld id="{7D50B42D-15A3-498E-9545-76378AC2C625}" type="slidenum">
              <a:rPr lang="en-US" smtClean="0"/>
              <a:pPr>
                <a:defRPr/>
              </a:pPr>
              <a:t>38</a:t>
            </a:fld>
            <a:endParaRPr lang="en-US" dirty="0"/>
          </a:p>
        </p:txBody>
      </p:sp>
      <p:sp>
        <p:nvSpPr>
          <p:cNvPr id="4" name="Title 3">
            <a:extLst>
              <a:ext uri="{FF2B5EF4-FFF2-40B4-BE49-F238E27FC236}">
                <a16:creationId xmlns:a16="http://schemas.microsoft.com/office/drawing/2014/main" id="{AF88803C-133E-4030-BFD3-504F18AB5BF6}"/>
              </a:ext>
            </a:extLst>
          </p:cNvPr>
          <p:cNvSpPr>
            <a:spLocks noGrp="1"/>
          </p:cNvSpPr>
          <p:nvPr>
            <p:ph type="title"/>
          </p:nvPr>
        </p:nvSpPr>
        <p:spPr/>
        <p:txBody>
          <a:bodyPr/>
          <a:lstStyle/>
          <a:p>
            <a:r>
              <a:rPr lang="en-AU" dirty="0"/>
              <a:t>Exercise </a:t>
            </a:r>
          </a:p>
        </p:txBody>
      </p:sp>
    </p:spTree>
    <p:extLst>
      <p:ext uri="{BB962C8B-B14F-4D97-AF65-F5344CB8AC3E}">
        <p14:creationId xmlns:p14="http://schemas.microsoft.com/office/powerpoint/2010/main" val="1929428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a:xfrm>
            <a:off x="609600" y="274638"/>
            <a:ext cx="8077200" cy="1143000"/>
          </a:xfrm>
        </p:spPr>
        <p:txBody>
          <a:bodyPr/>
          <a:lstStyle/>
          <a:p>
            <a:pPr eaLnBrk="1" hangingPunct="1">
              <a:defRPr/>
            </a:pPr>
            <a:r>
              <a:rPr lang="en-US" dirty="0"/>
              <a:t>Chapter Summary</a:t>
            </a:r>
          </a:p>
        </p:txBody>
      </p:sp>
      <p:sp>
        <p:nvSpPr>
          <p:cNvPr id="56323" name="Rectangle 3"/>
          <p:cNvSpPr>
            <a:spLocks noGrp="1" noChangeArrowheads="1"/>
          </p:cNvSpPr>
          <p:nvPr>
            <p:ph type="body" idx="1"/>
          </p:nvPr>
        </p:nvSpPr>
        <p:spPr>
          <a:xfrm>
            <a:off x="381000" y="1295400"/>
            <a:ext cx="8458200" cy="5791200"/>
          </a:xfrm>
        </p:spPr>
        <p:txBody>
          <a:bodyPr/>
          <a:lstStyle/>
          <a:p>
            <a:pPr eaLnBrk="1" hangingPunct="1"/>
            <a:r>
              <a:rPr lang="en-US" dirty="0"/>
              <a:t>The five project management process groups are initiating, planning, executing, monitoring and controlling, and closing. </a:t>
            </a:r>
          </a:p>
          <a:p>
            <a:pPr eaLnBrk="1" hangingPunct="1"/>
            <a:endParaRPr lang="en-US" dirty="0"/>
          </a:p>
          <a:p>
            <a:pPr eaLnBrk="1" hangingPunct="1"/>
            <a:r>
              <a:rPr lang="en-US" dirty="0"/>
              <a:t>Mapping the main activities of each project management process group into the ten project management knowledge areas provides a big picture of what activities are involved in project management</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39</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3169569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a:xfrm>
            <a:off x="533400" y="0"/>
            <a:ext cx="8610600" cy="1143000"/>
          </a:xfrm>
        </p:spPr>
        <p:txBody>
          <a:bodyPr/>
          <a:lstStyle/>
          <a:p>
            <a:pPr eaLnBrk="1" hangingPunct="1">
              <a:defRPr/>
            </a:pPr>
            <a:r>
              <a:rPr lang="en-US" dirty="0"/>
              <a:t>Chapter Summary (continued)</a:t>
            </a:r>
          </a:p>
        </p:txBody>
      </p:sp>
      <p:sp>
        <p:nvSpPr>
          <p:cNvPr id="57347" name="Rectangle 3"/>
          <p:cNvSpPr>
            <a:spLocks noGrp="1" noChangeArrowheads="1"/>
          </p:cNvSpPr>
          <p:nvPr>
            <p:ph type="body" idx="1"/>
          </p:nvPr>
        </p:nvSpPr>
        <p:spPr>
          <a:xfrm>
            <a:off x="457200" y="1219200"/>
            <a:ext cx="8229600" cy="4525963"/>
          </a:xfrm>
        </p:spPr>
        <p:txBody>
          <a:bodyPr/>
          <a:lstStyle/>
          <a:p>
            <a:pPr eaLnBrk="1" hangingPunct="1">
              <a:lnSpc>
                <a:spcPct val="90000"/>
              </a:lnSpc>
            </a:pPr>
            <a:r>
              <a:rPr lang="en-US" dirty="0"/>
              <a:t>Global Construction’s Just-In-Time Training project demonstrates the process of initiating a project. After a project is approved, senior managers often meet to perform several pre-initiating tasks</a:t>
            </a:r>
          </a:p>
          <a:p>
            <a:r>
              <a:rPr lang="en-US" dirty="0"/>
              <a:t>The main tasks normally involved in project initiation are the following:</a:t>
            </a:r>
          </a:p>
          <a:p>
            <a:pPr lvl="1"/>
            <a:r>
              <a:rPr lang="en-US" dirty="0"/>
              <a:t>Identifying and stakeholders</a:t>
            </a:r>
          </a:p>
          <a:p>
            <a:pPr lvl="1"/>
            <a:r>
              <a:rPr lang="en-US" dirty="0"/>
              <a:t>Creating the project charter and assumptions log</a:t>
            </a:r>
          </a:p>
          <a:p>
            <a:pPr lvl="1"/>
            <a:r>
              <a:rPr lang="en-US" dirty="0"/>
              <a:t>Holding a kick-off meeting</a:t>
            </a:r>
          </a:p>
        </p:txBody>
      </p:sp>
      <p:sp>
        <p:nvSpPr>
          <p:cNvPr id="5" name="Slide Number Placeholder 3"/>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lnSpc>
                <a:spcPct val="90000"/>
              </a:lnSpc>
              <a:spcBef>
                <a:spcPct val="20000"/>
              </a:spcBef>
              <a:spcAft>
                <a:spcPct val="0"/>
              </a:spcAft>
              <a:buNone/>
              <a:defRPr kumimoji="0" sz="1000" b="0" kern="1200">
                <a:solidFill>
                  <a:schemeClr val="tx1"/>
                </a:solidFill>
                <a:latin typeface="Times New Roman" pitchFamily="18" charset="0"/>
                <a:ea typeface="+mn-ea"/>
                <a:cs typeface="+mn-cs"/>
              </a:defRPr>
            </a:lvl1pPr>
            <a:lvl2pPr marL="4572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2pPr>
            <a:lvl3pPr marL="9144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3pPr>
            <a:lvl4pPr marL="13716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4pPr>
            <a:lvl5pPr marL="1828800" algn="l" rtl="0" fontAlgn="base">
              <a:lnSpc>
                <a:spcPct val="90000"/>
              </a:lnSpc>
              <a:spcBef>
                <a:spcPct val="20000"/>
              </a:spcBef>
              <a:spcAft>
                <a:spcPct val="0"/>
              </a:spcAft>
              <a:buChar char="•"/>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defRPr/>
            </a:pPr>
            <a:fld id="{A0432642-9879-4C1D-9C87-6BA4755F1F20}" type="slidenum">
              <a:rPr lang="en-US" sz="1600" smtClean="0">
                <a:latin typeface="Arial Unicode MS" pitchFamily="34" charset="-128"/>
                <a:ea typeface="Arial Unicode MS" pitchFamily="34" charset="-128"/>
                <a:cs typeface="Arial Unicode MS" pitchFamily="34" charset="-128"/>
              </a:rPr>
              <a:pPr>
                <a:defRPr/>
              </a:pPr>
              <a:t>40</a:t>
            </a:fld>
            <a:endParaRPr lang="en-US" sz="1600" dirty="0">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10061326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nded Edge">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6271</TotalTime>
  <Words>3062</Words>
  <Application>Microsoft Macintosh PowerPoint</Application>
  <PresentationFormat>On-screen Show (4:3)</PresentationFormat>
  <Paragraphs>353</Paragraphs>
  <Slides>40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Arial Unicode MS</vt:lpstr>
      <vt:lpstr>Calibri</vt:lpstr>
      <vt:lpstr>Calibri Light</vt:lpstr>
      <vt:lpstr>New York</vt:lpstr>
      <vt:lpstr>Symbol</vt:lpstr>
      <vt:lpstr>Times New Roman</vt:lpstr>
      <vt:lpstr>Verdana</vt:lpstr>
      <vt:lpstr>Wingdings 2</vt:lpstr>
      <vt:lpstr>Wingdings 3</vt:lpstr>
      <vt:lpstr>Concourse</vt:lpstr>
      <vt:lpstr>Chapter 3: Initiating Projects</vt:lpstr>
      <vt:lpstr>Project Management Process Groups</vt:lpstr>
      <vt:lpstr>Description of Process Groups</vt:lpstr>
      <vt:lpstr>Figure 3-5. Example of process group interactions within a project or phase</vt:lpstr>
      <vt:lpstr>Characteristics of the Process Groups</vt:lpstr>
      <vt:lpstr>Figure 3-6. Time Spent on Each Project Management Process Group</vt:lpstr>
      <vt:lpstr>Mapping the Process Groups to the Knowledge Areas</vt:lpstr>
      <vt:lpstr>Figure 3-7. Project management process group and knowledge area mapping</vt:lpstr>
      <vt:lpstr>Developing a Project Management Methodology</vt:lpstr>
      <vt:lpstr>Some Examples of Methodologies</vt:lpstr>
      <vt:lpstr>The Importance of Top Management Commitment</vt:lpstr>
      <vt:lpstr>How Top Managers Can Help Project Managers Succeed</vt:lpstr>
      <vt:lpstr>Project Management Office (PMO)</vt:lpstr>
      <vt:lpstr>Figure 3-8 Percentage of Organizations with PMOs</vt:lpstr>
      <vt:lpstr>Possible Goals of a PMO</vt:lpstr>
      <vt:lpstr>Figure 3-9. Initiating Process Summary</vt:lpstr>
      <vt:lpstr>Example: Just-In-Time Training Project</vt:lpstr>
      <vt:lpstr>Figure 3-10. Summary Information for the Just-In-Time Training Phase I Project</vt:lpstr>
      <vt:lpstr>Figure 3-11. Summary Information for the Just-In-Time Training Phase I Project (continued)</vt:lpstr>
      <vt:lpstr>Business Case for a Project</vt:lpstr>
      <vt:lpstr>Exercise </vt:lpstr>
      <vt:lpstr>Initiating Processes</vt:lpstr>
      <vt:lpstr>Figure 3-12. Initiating Processes and Outputs (PMBOK® Guide – Sixth Edition)</vt:lpstr>
      <vt:lpstr>Identifying Stakeholders</vt:lpstr>
      <vt:lpstr>Stakeholder Register and Stakeholder Analysis</vt:lpstr>
      <vt:lpstr>Figure 3-13. Sample Stakeholder Register</vt:lpstr>
      <vt:lpstr>Figure 3-14. Sample Stakeholder Analysis Power/Interest Grid</vt:lpstr>
      <vt:lpstr>Categorizing Engagement Levels of Stakeholders</vt:lpstr>
      <vt:lpstr>Creating a Project Charter and Assumptions Log</vt:lpstr>
      <vt:lpstr>Contents of a Project Charter</vt:lpstr>
      <vt:lpstr>Contents of a Project Charter (continued)</vt:lpstr>
      <vt:lpstr>Figure 3-16. Sample Project Charter</vt:lpstr>
      <vt:lpstr>Figure 3-16. Sample Project Charter (continued)</vt:lpstr>
      <vt:lpstr>Contents of An Assumptions Log</vt:lpstr>
      <vt:lpstr>Figure 3-17. Sample Assumptions Log</vt:lpstr>
      <vt:lpstr>Holding a Project Kick-off Meeting</vt:lpstr>
      <vt:lpstr>Figure 3-18. Sample Kick-Off Meeting Agenda</vt:lpstr>
      <vt:lpstr>Exercise </vt:lpstr>
      <vt:lpstr>Chapter Summary</vt:lpstr>
      <vt:lpstr>Chapter Summary (continued)</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Kiran Sreedhar Ram</cp:lastModifiedBy>
  <cp:revision>654</cp:revision>
  <dcterms:created xsi:type="dcterms:W3CDTF">2001-07-05T23:10:12Z</dcterms:created>
  <dcterms:modified xsi:type="dcterms:W3CDTF">2023-03-24T00:19:02Z</dcterms:modified>
</cp:coreProperties>
</file>